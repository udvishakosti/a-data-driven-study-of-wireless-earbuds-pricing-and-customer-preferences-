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59" r:id="rId2"/>
    <p:sldId id="336" r:id="rId3"/>
    <p:sldId id="337" r:id="rId4"/>
    <p:sldId id="258" r:id="rId5"/>
    <p:sldId id="338" r:id="rId6"/>
    <p:sldId id="339" r:id="rId7"/>
    <p:sldId id="306" r:id="rId8"/>
    <p:sldId id="340" r:id="rId9"/>
    <p:sldId id="341" r:id="rId10"/>
    <p:sldId id="342" r:id="rId11"/>
    <p:sldId id="343" r:id="rId12"/>
    <p:sldId id="348" r:id="rId13"/>
    <p:sldId id="349" r:id="rId14"/>
    <p:sldId id="350" r:id="rId15"/>
    <p:sldId id="351" r:id="rId16"/>
    <p:sldId id="344" r:id="rId17"/>
    <p:sldId id="345" r:id="rId18"/>
    <p:sldId id="346" r:id="rId19"/>
    <p:sldId id="347" r:id="rId20"/>
    <p:sldId id="353" r:id="rId21"/>
    <p:sldId id="354" r:id="rId22"/>
    <p:sldId id="356" r:id="rId23"/>
    <p:sldId id="357" r:id="rId24"/>
    <p:sldId id="352" r:id="rId25"/>
    <p:sldId id="358" r:id="rId26"/>
    <p:sldId id="28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5AA28-907C-403A-A77D-26A62604939A}" v="1" dt="2026-02-02T07:14:15.4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dvisha kosti" userId="3a5301046d60e933" providerId="LiveId" clId="{82E5FECD-0EFE-4A7B-B99B-B345F88BCA89}"/>
    <pc:docChg chg="addSld delSld modSld">
      <pc:chgData name="udvisha kosti" userId="3a5301046d60e933" providerId="LiveId" clId="{82E5FECD-0EFE-4A7B-B99B-B345F88BCA89}" dt="2026-02-02T07:14:15.497" v="1"/>
      <pc:docMkLst>
        <pc:docMk/>
      </pc:docMkLst>
      <pc:sldChg chg="add del">
        <pc:chgData name="udvisha kosti" userId="3a5301046d60e933" providerId="LiveId" clId="{82E5FECD-0EFE-4A7B-B99B-B345F88BCA89}" dt="2026-02-02T07:14:15.497" v="1"/>
        <pc:sldMkLst>
          <pc:docMk/>
          <pc:sldMk cId="2045786022" sldId="3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8B9F4E-7C26-468C-90C8-3A8A1C86D9FD}" type="datetimeFigureOut">
              <a:rPr lang="en-IN" smtClean="0"/>
              <a:t>02-02-2026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BDAC0-C690-410D-A721-4F8E9CAF1BEB}" type="slidenum">
              <a:rPr lang="en-IN" smtClean="0"/>
              <a:t>‹#›</a:t>
            </a:fld>
            <a:endParaRPr lang="en-IN"/>
          </a:p>
        </p:txBody>
      </p:sp>
    </p:spTree>
    <p:extLst>
      <p:ext uri="{BB962C8B-B14F-4D97-AF65-F5344CB8AC3E}">
        <p14:creationId xmlns:p14="http://schemas.microsoft.com/office/powerpoint/2010/main" val="26695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EBDAC0-C690-410D-A721-4F8E9CAF1BEB}" type="slidenum">
              <a:rPr lang="en-IN" smtClean="0"/>
              <a:t>7</a:t>
            </a:fld>
            <a:endParaRPr lang="en-IN"/>
          </a:p>
        </p:txBody>
      </p:sp>
    </p:spTree>
    <p:extLst>
      <p:ext uri="{BB962C8B-B14F-4D97-AF65-F5344CB8AC3E}">
        <p14:creationId xmlns:p14="http://schemas.microsoft.com/office/powerpoint/2010/main" val="4266758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EBDAC0-C690-410D-A721-4F8E9CAF1BEB}" type="slidenum">
              <a:rPr lang="en-IN" smtClean="0"/>
              <a:t>21</a:t>
            </a:fld>
            <a:endParaRPr lang="en-IN"/>
          </a:p>
        </p:txBody>
      </p:sp>
    </p:spTree>
    <p:extLst>
      <p:ext uri="{BB962C8B-B14F-4D97-AF65-F5344CB8AC3E}">
        <p14:creationId xmlns:p14="http://schemas.microsoft.com/office/powerpoint/2010/main" val="66659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D795F-573D-8AA1-272E-ECFCA9102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84D67-F8E6-42DB-B174-80DC3C504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73DC4-E6BB-4A09-E7A1-5E77FF433B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D1BEC0-FB1C-7034-6144-E4320858DD7C}"/>
              </a:ext>
            </a:extLst>
          </p:cNvPr>
          <p:cNvSpPr>
            <a:spLocks noGrp="1"/>
          </p:cNvSpPr>
          <p:nvPr>
            <p:ph type="sldNum" sz="quarter" idx="5"/>
          </p:nvPr>
        </p:nvSpPr>
        <p:spPr/>
        <p:txBody>
          <a:bodyPr/>
          <a:lstStyle/>
          <a:p>
            <a:fld id="{7EEBDAC0-C690-410D-A721-4F8E9CAF1BEB}" type="slidenum">
              <a:rPr lang="en-IN" smtClean="0"/>
              <a:t>22</a:t>
            </a:fld>
            <a:endParaRPr lang="en-IN"/>
          </a:p>
        </p:txBody>
      </p:sp>
    </p:spTree>
    <p:extLst>
      <p:ext uri="{BB962C8B-B14F-4D97-AF65-F5344CB8AC3E}">
        <p14:creationId xmlns:p14="http://schemas.microsoft.com/office/powerpoint/2010/main" val="561909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6562-552D-8787-DA72-90288F0CF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3ECFE-125E-EA59-5BE4-AE48679B5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A7C6C-33AF-0B0A-62E1-70CFE37C23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0A3177-59ED-7512-0085-D13696DE433F}"/>
              </a:ext>
            </a:extLst>
          </p:cNvPr>
          <p:cNvSpPr>
            <a:spLocks noGrp="1"/>
          </p:cNvSpPr>
          <p:nvPr>
            <p:ph type="sldNum" sz="quarter" idx="5"/>
          </p:nvPr>
        </p:nvSpPr>
        <p:spPr/>
        <p:txBody>
          <a:bodyPr/>
          <a:lstStyle/>
          <a:p>
            <a:fld id="{7EEBDAC0-C690-410D-A721-4F8E9CAF1BEB}" type="slidenum">
              <a:rPr lang="en-IN" smtClean="0"/>
              <a:t>23</a:t>
            </a:fld>
            <a:endParaRPr lang="en-IN"/>
          </a:p>
        </p:txBody>
      </p:sp>
    </p:spTree>
    <p:extLst>
      <p:ext uri="{BB962C8B-B14F-4D97-AF65-F5344CB8AC3E}">
        <p14:creationId xmlns:p14="http://schemas.microsoft.com/office/powerpoint/2010/main" val="2955567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C2E50-71CA-1251-54E3-D14F8DFE1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82B020-2C18-66C6-A9EE-1B1344A094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C13F690-9C46-F65B-AA21-4438B9EDD139}"/>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E2CCDCD5-6687-3DF4-12B5-B647CE2460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1E4989-370C-2502-A407-A7F63EBAEBE2}"/>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125297997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622B-6677-1AE7-C3CE-1885D29024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D5E9DC-2CE4-B6E2-6301-D75DA5585A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98A01C-0E02-6D5B-9BBD-6E6EF0E310A8}"/>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33314DF0-E5FC-8A1E-2029-CB48706A23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9FAACF-C175-30D2-3622-4EF482FA04DF}"/>
              </a:ext>
            </a:extLst>
          </p:cNvPr>
          <p:cNvSpPr>
            <a:spLocks noGrp="1"/>
          </p:cNvSpPr>
          <p:nvPr>
            <p:ph type="sldNum" sz="quarter" idx="12"/>
          </p:nvPr>
        </p:nvSpPr>
        <p:spPr/>
        <p:txBody>
          <a:bodyPr/>
          <a:lstStyle/>
          <a:p>
            <a:fld id="{8025C50E-E898-4679-A023-1FDBEB91338C}" type="slidenum">
              <a:rPr lang="en-IN" smtClean="0"/>
              <a:t>‹#›</a:t>
            </a:fld>
            <a:endParaRPr lang="en-IN"/>
          </a:p>
        </p:txBody>
      </p:sp>
      <p:pic>
        <p:nvPicPr>
          <p:cNvPr id="8" name="Picture 7" descr="A logo with a circular design&#10;&#10;AI-generated content may be incorrect.">
            <a:extLst>
              <a:ext uri="{FF2B5EF4-FFF2-40B4-BE49-F238E27FC236}">
                <a16:creationId xmlns:a16="http://schemas.microsoft.com/office/drawing/2014/main" id="{8DF8FB0E-6337-320F-C658-6B6133CB6A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80453" y="6055743"/>
            <a:ext cx="1762695" cy="807573"/>
          </a:xfrm>
          <a:prstGeom prst="rect">
            <a:avLst/>
          </a:prstGeom>
        </p:spPr>
      </p:pic>
    </p:spTree>
    <p:extLst>
      <p:ext uri="{BB962C8B-B14F-4D97-AF65-F5344CB8AC3E}">
        <p14:creationId xmlns:p14="http://schemas.microsoft.com/office/powerpoint/2010/main" val="161050349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984FD-945B-D1D2-BF39-56E7E238F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E1C216-8983-C95D-2FA5-58BA1F381C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868ED0-ACA2-61A0-9B38-78CCB670F88C}"/>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945A9AE5-6F8C-2DA9-4645-96552DC0A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B9569A-B0DF-8F34-8A9A-846C54AF1F1D}"/>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147536393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75323-83CB-DB9A-DA8A-B4CD62BD95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DD26B8-00DD-13DE-BC6F-14AD883FBA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59A07F-7D41-5FE2-96BD-A895823894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A886DE-0316-848C-845E-85A5B7E56E7A}"/>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6" name="Footer Placeholder 5">
            <a:extLst>
              <a:ext uri="{FF2B5EF4-FFF2-40B4-BE49-F238E27FC236}">
                <a16:creationId xmlns:a16="http://schemas.microsoft.com/office/drawing/2014/main" id="{6C76BB64-419B-3D26-6CEB-9EB52D91E9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E20EB9-9AF0-6CC9-454E-746833829F04}"/>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326620843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A1D08-5E27-988D-9553-6D0C9C6893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D6A3BF-4397-9923-5CB5-2459147D1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3F0507-D585-2483-8D9C-BDBB85116B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DE7160-1F2C-6C05-304F-D5007983AA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2ABDBB-D2A0-3BFD-4952-90FBFB3E36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A0F9FB-D6D5-9B16-B066-752DD218C02A}"/>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8" name="Footer Placeholder 7">
            <a:extLst>
              <a:ext uri="{FF2B5EF4-FFF2-40B4-BE49-F238E27FC236}">
                <a16:creationId xmlns:a16="http://schemas.microsoft.com/office/drawing/2014/main" id="{9DBFC796-1E18-B996-2F27-BFAC44CF93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B22EE1-2F3C-225D-2F9A-B45DBB788E18}"/>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264611679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D0077-ACAA-92DC-E69E-A052ED193B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A33729-9506-7AA3-EEF0-A151A91ADE82}"/>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4" name="Footer Placeholder 3">
            <a:extLst>
              <a:ext uri="{FF2B5EF4-FFF2-40B4-BE49-F238E27FC236}">
                <a16:creationId xmlns:a16="http://schemas.microsoft.com/office/drawing/2014/main" id="{D29585B9-6B66-5CDA-3FD7-E2AD3B0E2B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7303F2-F5D3-CFEC-82DF-4ECAA08AFC6D}"/>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101877322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21D435-4292-D695-9B68-2F8C6D1D3371}"/>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3" name="Footer Placeholder 2">
            <a:extLst>
              <a:ext uri="{FF2B5EF4-FFF2-40B4-BE49-F238E27FC236}">
                <a16:creationId xmlns:a16="http://schemas.microsoft.com/office/drawing/2014/main" id="{3B9AD738-4A79-0892-C64E-63C173E313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4C42E4-2117-886F-5BFF-66069032BF0F}"/>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40263404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15DF4-4775-974B-3666-28AAA1569A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048CE0-ED24-18FA-6DD8-555713155C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7C10A6-5326-844E-4953-05D62139E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401F6-1947-1377-7EC8-96130BCC5130}"/>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6" name="Footer Placeholder 5">
            <a:extLst>
              <a:ext uri="{FF2B5EF4-FFF2-40B4-BE49-F238E27FC236}">
                <a16:creationId xmlns:a16="http://schemas.microsoft.com/office/drawing/2014/main" id="{A4F1563E-E516-A649-CD2F-4DCFD7B895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9AFE2F-C890-43D4-7153-10E6A30CF122}"/>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65076221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1E51-3295-44CD-00D3-E64E50ED0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BDAEC0-E276-D925-1CBF-F39466F86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A69899-21EB-29C4-F7DD-0420BD4D75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4D2146-3E9B-F95F-626A-864D1179BE80}"/>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6" name="Footer Placeholder 5">
            <a:extLst>
              <a:ext uri="{FF2B5EF4-FFF2-40B4-BE49-F238E27FC236}">
                <a16:creationId xmlns:a16="http://schemas.microsoft.com/office/drawing/2014/main" id="{EC067EB8-5768-9169-60A4-139A20CAC4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8ABB6-AC9D-A146-1FBD-4D7722AA2EEF}"/>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398522421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DF79-954F-B415-D7E8-DC708E3CD9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6DAD10-98F8-483D-0C7A-CDA8911E70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EF18D-4D65-7566-934A-10BA2B07F1C9}"/>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278620AE-4761-7528-B3A6-BAC4A3673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13FE7A-9FA7-6CF7-5793-E5E58A06CF7F}"/>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190924458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AC17DA-EEE8-032A-E112-CD9E6AA69E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FBE415-5ABD-CE8C-0FE9-D86795371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FB1DA7-968A-42CB-F2E3-E83889BC17F6}"/>
              </a:ext>
            </a:extLst>
          </p:cNvPr>
          <p:cNvSpPr>
            <a:spLocks noGrp="1"/>
          </p:cNvSpPr>
          <p:nvPr>
            <p:ph type="dt" sz="half" idx="10"/>
          </p:nvPr>
        </p:nvSpPr>
        <p:spPr/>
        <p:txBody>
          <a:body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AC6592E4-BC16-844D-3B85-7CDBA7B6F4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EA7A1-2EC4-4A04-671E-DA7205C9B712}"/>
              </a:ext>
            </a:extLst>
          </p:cNvPr>
          <p:cNvSpPr>
            <a:spLocks noGrp="1"/>
          </p:cNvSpPr>
          <p:nvPr>
            <p:ph type="sldNum" sz="quarter" idx="12"/>
          </p:nvPr>
        </p:nvSpPr>
        <p:spPr/>
        <p:txBody>
          <a:bodyPr/>
          <a:lstStyle/>
          <a:p>
            <a:fld id="{8025C50E-E898-4679-A023-1FDBEB91338C}" type="slidenum">
              <a:rPr lang="en-IN" smtClean="0"/>
              <a:t>‹#›</a:t>
            </a:fld>
            <a:endParaRPr lang="en-IN"/>
          </a:p>
        </p:txBody>
      </p:sp>
    </p:spTree>
    <p:extLst>
      <p:ext uri="{BB962C8B-B14F-4D97-AF65-F5344CB8AC3E}">
        <p14:creationId xmlns:p14="http://schemas.microsoft.com/office/powerpoint/2010/main" val="260535905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76BE6-F426-2F79-7798-5F1EF95775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C369AF-2EF7-87D0-8DF6-7DCA0DF4E1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D3C1EE-C661-35EF-2259-86D458F484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098C47-B3FE-4919-87F3-7FA232BFE9EF}" type="datetimeFigureOut">
              <a:rPr lang="en-IN" smtClean="0"/>
              <a:t>02-02-2026</a:t>
            </a:fld>
            <a:endParaRPr lang="en-IN"/>
          </a:p>
        </p:txBody>
      </p:sp>
      <p:sp>
        <p:nvSpPr>
          <p:cNvPr id="5" name="Footer Placeholder 4">
            <a:extLst>
              <a:ext uri="{FF2B5EF4-FFF2-40B4-BE49-F238E27FC236}">
                <a16:creationId xmlns:a16="http://schemas.microsoft.com/office/drawing/2014/main" id="{BB422AF7-D1AF-791E-11D1-2110D4D8CB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6751F07-3D73-1DB4-4024-79AC7F928E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25C50E-E898-4679-A023-1FDBEB91338C}" type="slidenum">
              <a:rPr lang="en-IN" smtClean="0"/>
              <a:t>‹#›</a:t>
            </a:fld>
            <a:endParaRPr lang="en-IN"/>
          </a:p>
        </p:txBody>
      </p:sp>
    </p:spTree>
    <p:extLst>
      <p:ext uri="{BB962C8B-B14F-4D97-AF65-F5344CB8AC3E}">
        <p14:creationId xmlns:p14="http://schemas.microsoft.com/office/powerpoint/2010/main" val="2514686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8" descr="A white background with red and black text">
            <a:extLst>
              <a:ext uri="{FF2B5EF4-FFF2-40B4-BE49-F238E27FC236}">
                <a16:creationId xmlns:a16="http://schemas.microsoft.com/office/drawing/2014/main" id="{BF1D2590-442A-2159-67A8-A28C06FD1E33}"/>
              </a:ext>
            </a:extLst>
          </p:cNvPr>
          <p:cNvPicPr>
            <a:picLocks noChangeAspect="1"/>
          </p:cNvPicPr>
          <p:nvPr/>
        </p:nvPicPr>
        <p:blipFill>
          <a:blip r:embed="rId2"/>
          <a:srcRect l="444"/>
          <a:stretch>
            <a:fillRect/>
          </a:stretch>
        </p:blipFill>
        <p:spPr>
          <a:xfrm>
            <a:off x="108176" y="57744"/>
            <a:ext cx="12191979" cy="6857988"/>
          </a:xfrm>
          <a:prstGeom prst="rect">
            <a:avLst/>
          </a:prstGeom>
          <a:effectLst>
            <a:outerShdw blurRad="596900" dist="330200" dir="8820000" sx="87000" sy="87000" algn="ctr" rotWithShape="0">
              <a:srgbClr val="000000">
                <a:alpha val="29000"/>
              </a:srgbClr>
            </a:outerShdw>
          </a:effectLst>
        </p:spPr>
      </p:pic>
      <p:sp>
        <p:nvSpPr>
          <p:cNvPr id="3" name="Content Placeholder 2">
            <a:extLst>
              <a:ext uri="{FF2B5EF4-FFF2-40B4-BE49-F238E27FC236}">
                <a16:creationId xmlns:a16="http://schemas.microsoft.com/office/drawing/2014/main" id="{2C0B0E96-BFD3-9BD1-9B92-393DD266673E}"/>
              </a:ext>
            </a:extLst>
          </p:cNvPr>
          <p:cNvSpPr>
            <a:spLocks noGrp="1"/>
          </p:cNvSpPr>
          <p:nvPr>
            <p:ph idx="1"/>
          </p:nvPr>
        </p:nvSpPr>
        <p:spPr>
          <a:xfrm>
            <a:off x="2331721" y="3486738"/>
            <a:ext cx="7102460" cy="180694"/>
          </a:xfrm>
        </p:spPr>
        <p:txBody>
          <a:bodyPr>
            <a:normAutofit fontScale="25000" lnSpcReduction="20000"/>
          </a:bodyPr>
          <a:lstStyle/>
          <a:p>
            <a:pPr marL="0" indent="0" algn="ctr">
              <a:buNone/>
            </a:pPr>
            <a:endParaRPr lang="en-IN" sz="7000" b="1" dirty="0">
              <a:latin typeface="Times New Roman" panose="02020603050405020304" pitchFamily="18" charset="0"/>
              <a:cs typeface="Times New Roman" panose="02020603050405020304" pitchFamily="18" charset="0"/>
            </a:endParaRPr>
          </a:p>
          <a:p>
            <a:pPr marL="0" indent="0">
              <a:buNone/>
            </a:pPr>
            <a:r>
              <a:rPr lang="en-IN" dirty="0"/>
              <a:t> </a:t>
            </a:r>
          </a:p>
        </p:txBody>
      </p:sp>
      <p:sp>
        <p:nvSpPr>
          <p:cNvPr id="7" name="TextBox 6">
            <a:extLst>
              <a:ext uri="{FF2B5EF4-FFF2-40B4-BE49-F238E27FC236}">
                <a16:creationId xmlns:a16="http://schemas.microsoft.com/office/drawing/2014/main" id="{E2EE40A0-AD93-B578-28DE-B34195B19FE5}"/>
              </a:ext>
            </a:extLst>
          </p:cNvPr>
          <p:cNvSpPr txBox="1"/>
          <p:nvPr/>
        </p:nvSpPr>
        <p:spPr>
          <a:xfrm>
            <a:off x="4483509" y="2881090"/>
            <a:ext cx="3224981" cy="584775"/>
          </a:xfrm>
          <a:prstGeom prst="rect">
            <a:avLst/>
          </a:prstGeom>
          <a:noFill/>
        </p:spPr>
        <p:txBody>
          <a:bodyPr wrap="square" rtlCol="0">
            <a:spAutoFit/>
          </a:bodyPr>
          <a:lstStyle/>
          <a:p>
            <a:r>
              <a:rPr lang="en-US" sz="3200" b="1" dirty="0">
                <a:solidFill>
                  <a:srgbClr val="FF0000"/>
                </a:solidFill>
                <a:latin typeface="Calibri" panose="020F0502020204030204" pitchFamily="34" charset="0"/>
                <a:ea typeface="Calibri" panose="020F0502020204030204" pitchFamily="34" charset="0"/>
                <a:cs typeface="Calibri" panose="020F0502020204030204" pitchFamily="34" charset="0"/>
              </a:rPr>
              <a:t>EDA Project on</a:t>
            </a:r>
            <a:endParaRPr lang="en-IN" b="1" dirty="0"/>
          </a:p>
        </p:txBody>
      </p:sp>
      <p:sp>
        <p:nvSpPr>
          <p:cNvPr id="8" name="TextBox 7">
            <a:extLst>
              <a:ext uri="{FF2B5EF4-FFF2-40B4-BE49-F238E27FC236}">
                <a16:creationId xmlns:a16="http://schemas.microsoft.com/office/drawing/2014/main" id="{12CEC3A1-CB36-72A1-D749-3216229ED914}"/>
              </a:ext>
            </a:extLst>
          </p:cNvPr>
          <p:cNvSpPr txBox="1"/>
          <p:nvPr/>
        </p:nvSpPr>
        <p:spPr>
          <a:xfrm>
            <a:off x="7757215" y="4887259"/>
            <a:ext cx="3102068" cy="1200329"/>
          </a:xfrm>
          <a:prstGeom prst="rect">
            <a:avLst/>
          </a:prstGeom>
          <a:noFill/>
        </p:spPr>
        <p:txBody>
          <a:bodyPr wrap="none" rtlCol="0">
            <a:spAutoFit/>
          </a:bodyPr>
          <a:lstStyle/>
          <a:p>
            <a:r>
              <a:rPr lang="en-US" b="1" dirty="0">
                <a:solidFill>
                  <a:schemeClr val="bg1">
                    <a:lumMod val="50000"/>
                  </a:schemeClr>
                </a:solidFill>
              </a:rPr>
              <a:t>Presented by :</a:t>
            </a:r>
            <a:r>
              <a:rPr lang="en-US" dirty="0"/>
              <a:t>  </a:t>
            </a:r>
            <a:r>
              <a:rPr lang="en-US" b="1"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 Udvisha Kosti</a:t>
            </a:r>
          </a:p>
          <a:p>
            <a:r>
              <a:rPr lang="en-US" b="1"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Batch no           :  456</a:t>
            </a:r>
          </a:p>
          <a:p>
            <a:r>
              <a:rPr lang="en-US" b="1"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INNOMATICS RESEARCH LABS</a:t>
            </a:r>
          </a:p>
          <a:p>
            <a:r>
              <a:rPr lang="en-US" b="1"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DISUKHNAGAR BRANCH</a:t>
            </a:r>
            <a:endParaRPr lang="en-IN" b="1"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2" name="Content Placeholder 2">
            <a:extLst>
              <a:ext uri="{FF2B5EF4-FFF2-40B4-BE49-F238E27FC236}">
                <a16:creationId xmlns:a16="http://schemas.microsoft.com/office/drawing/2014/main" id="{7145EFBB-F8AA-97CC-9093-388CABBBC102}"/>
              </a:ext>
            </a:extLst>
          </p:cNvPr>
          <p:cNvSpPr txBox="1">
            <a:spLocks/>
          </p:cNvSpPr>
          <p:nvPr/>
        </p:nvSpPr>
        <p:spPr>
          <a:xfrm>
            <a:off x="2331721" y="3588773"/>
            <a:ext cx="8294914" cy="4703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latin typeface="Times New Roman" panose="02020603050405020304" pitchFamily="18" charset="0"/>
                <a:cs typeface="Times New Roman" panose="02020603050405020304" pitchFamily="18" charset="0"/>
              </a:rPr>
              <a:t>A Data-Driven Study of Wireless Earbuds Pricing and Customer Preferences</a:t>
            </a:r>
            <a:endParaRPr lang="en-US" sz="1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r>
              <a:rPr lang="en-IN" sz="1800" b="1" dirty="0">
                <a:solidFill>
                  <a:schemeClr val="tx1">
                    <a:lumMod val="75000"/>
                    <a:lumOff val="25000"/>
                  </a:schemeClr>
                </a:solidFill>
              </a:rPr>
              <a:t> </a:t>
            </a:r>
          </a:p>
        </p:txBody>
      </p:sp>
    </p:spTree>
    <p:extLst>
      <p:ext uri="{BB962C8B-B14F-4D97-AF65-F5344CB8AC3E}">
        <p14:creationId xmlns:p14="http://schemas.microsoft.com/office/powerpoint/2010/main" val="173320408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ADD16-7B8B-E2B3-6ECC-A993012F2C09}"/>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Agenda </a:t>
            </a:r>
          </a:p>
        </p:txBody>
      </p:sp>
      <p:sp>
        <p:nvSpPr>
          <p:cNvPr id="3" name="Content Placeholder 2">
            <a:extLst>
              <a:ext uri="{FF2B5EF4-FFF2-40B4-BE49-F238E27FC236}">
                <a16:creationId xmlns:a16="http://schemas.microsoft.com/office/drawing/2014/main" id="{5AEEC741-3B77-04F1-1651-CCCA5D0E4178}"/>
              </a:ext>
            </a:extLst>
          </p:cNvPr>
          <p:cNvSpPr>
            <a:spLocks noGrp="1"/>
          </p:cNvSpPr>
          <p:nvPr>
            <p:ph idx="1"/>
          </p:nvPr>
        </p:nvSpPr>
        <p:spPr>
          <a:xfrm>
            <a:off x="838201" y="1825625"/>
            <a:ext cx="8443452" cy="3985240"/>
          </a:xfrm>
        </p:spPr>
        <p:txBody>
          <a:bodyPr>
            <a:normAutofit lnSpcReduction="10000"/>
          </a:bodyPr>
          <a:lstStyle/>
          <a:p>
            <a:r>
              <a:rPr lang="en-US" dirty="0"/>
              <a:t>Introduction &amp; Project Background</a:t>
            </a:r>
          </a:p>
          <a:p>
            <a:r>
              <a:rPr lang="en-US" dirty="0"/>
              <a:t>Problem Statement</a:t>
            </a:r>
          </a:p>
          <a:p>
            <a:r>
              <a:rPr lang="en-US" dirty="0"/>
              <a:t>Objectives of the Study</a:t>
            </a:r>
          </a:p>
          <a:p>
            <a:r>
              <a:rPr lang="en-US" dirty="0"/>
              <a:t>Dataset Overview</a:t>
            </a:r>
          </a:p>
          <a:p>
            <a:r>
              <a:rPr lang="en-US" dirty="0"/>
              <a:t>Exploratory Data Analysis (EDA)</a:t>
            </a:r>
          </a:p>
          <a:p>
            <a:r>
              <a:rPr lang="en-US" dirty="0"/>
              <a:t>Key Insights &amp; Findings</a:t>
            </a:r>
          </a:p>
          <a:p>
            <a:r>
              <a:rPr lang="en-US" dirty="0"/>
              <a:t>Business Implications</a:t>
            </a:r>
          </a:p>
          <a:p>
            <a:r>
              <a:rPr lang="en-US" dirty="0"/>
              <a:t>Conclusion &amp; Recommendations</a:t>
            </a:r>
            <a:endParaRPr lang="en-IN" dirty="0"/>
          </a:p>
        </p:txBody>
      </p:sp>
    </p:spTree>
    <p:extLst>
      <p:ext uri="{BB962C8B-B14F-4D97-AF65-F5344CB8AC3E}">
        <p14:creationId xmlns:p14="http://schemas.microsoft.com/office/powerpoint/2010/main" val="253866966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861C-BED8-9A25-2B19-4E6DE6861A20}"/>
              </a:ext>
            </a:extLst>
          </p:cNvPr>
          <p:cNvSpPr>
            <a:spLocks noGrp="1"/>
          </p:cNvSpPr>
          <p:nvPr>
            <p:ph type="title"/>
          </p:nvPr>
        </p:nvSpPr>
        <p:spPr/>
        <p:txBody>
          <a:bodyPr/>
          <a:lstStyle/>
          <a:p>
            <a:r>
              <a:rPr lang="en-IN"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23ECCBA-1BBA-9E51-E160-9971926248A8}"/>
              </a:ext>
            </a:extLst>
          </p:cNvPr>
          <p:cNvSpPr>
            <a:spLocks noGrp="1"/>
          </p:cNvSpPr>
          <p:nvPr>
            <p:ph idx="1"/>
          </p:nvPr>
        </p:nvSpPr>
        <p:spPr/>
        <p:txBody>
          <a:bodyPr/>
          <a:lstStyle/>
          <a:p>
            <a:r>
              <a:rPr lang="en-US" dirty="0"/>
              <a:t>In today’s digital marketplace, wireless earbuds have become an essential consumer product. With numerous brands, price ranges, and technical features available online, customers often face difficulty in choosing the right product that offers true value for money.</a:t>
            </a:r>
          </a:p>
          <a:p>
            <a:r>
              <a:rPr lang="en-US" dirty="0"/>
              <a:t>This project applies </a:t>
            </a:r>
            <a:r>
              <a:rPr lang="en-US" b="1" dirty="0"/>
              <a:t>Exploratory Data Analysis (EDA)</a:t>
            </a:r>
            <a:r>
              <a:rPr lang="en-US" dirty="0"/>
              <a:t> to understand how factors such as price, discounts, Bluetooth versions, and customer ratings influence purchasing decisions. The goal is to simplify product selection using data-driven insights rather than assumptions or marketing claims.</a:t>
            </a:r>
          </a:p>
          <a:p>
            <a:endParaRPr lang="en-IN" dirty="0"/>
          </a:p>
        </p:txBody>
      </p:sp>
    </p:spTree>
    <p:extLst>
      <p:ext uri="{BB962C8B-B14F-4D97-AF65-F5344CB8AC3E}">
        <p14:creationId xmlns:p14="http://schemas.microsoft.com/office/powerpoint/2010/main" val="363613052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44D8-C0E9-BF4C-82A6-D9E0D16992AA}"/>
              </a:ext>
            </a:extLst>
          </p:cNvPr>
          <p:cNvSpPr>
            <a:spLocks noGrp="1"/>
          </p:cNvSpPr>
          <p:nvPr>
            <p:ph type="title"/>
          </p:nvPr>
        </p:nvSpPr>
        <p:spPr>
          <a:xfrm>
            <a:off x="740313" y="365125"/>
            <a:ext cx="10613487" cy="1325563"/>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Business Problem:</a:t>
            </a:r>
            <a:br>
              <a:rPr lang="en-US" sz="4000" b="1" dirty="0">
                <a:solidFill>
                  <a:srgbClr val="FF0000"/>
                </a:solidFill>
              </a:rPr>
            </a:br>
            <a:endParaRPr lang="en-IN" sz="4000" b="1" dirty="0">
              <a:solidFill>
                <a:srgbClr val="FF0000"/>
              </a:solidFill>
            </a:endParaRPr>
          </a:p>
        </p:txBody>
      </p:sp>
      <p:sp>
        <p:nvSpPr>
          <p:cNvPr id="7" name="TextBox 6">
            <a:extLst>
              <a:ext uri="{FF2B5EF4-FFF2-40B4-BE49-F238E27FC236}">
                <a16:creationId xmlns:a16="http://schemas.microsoft.com/office/drawing/2014/main" id="{63D17C3C-874B-BA2A-C52B-5E69F3C1BD85}"/>
              </a:ext>
            </a:extLst>
          </p:cNvPr>
          <p:cNvSpPr txBox="1"/>
          <p:nvPr/>
        </p:nvSpPr>
        <p:spPr>
          <a:xfrm>
            <a:off x="740313" y="1222445"/>
            <a:ext cx="10419299" cy="3539430"/>
          </a:xfrm>
          <a:prstGeom prst="rect">
            <a:avLst/>
          </a:prstGeom>
          <a:noFill/>
        </p:spPr>
        <p:txBody>
          <a:bodyPr wrap="square" rtlCol="0">
            <a:spAutoFit/>
          </a:bodyPr>
          <a:lstStyle/>
          <a:p>
            <a:r>
              <a:rPr lang="en-US" sz="3200" dirty="0"/>
              <a:t>In the highly competitive online consumer electronics market, customers are presented with hundreds of wireless earbuds that appear similar in features but vary significantly in price, discounts, and brand positioning. Despite having access to abundant information, customers struggle to identify products that genuinely offer value for money</a:t>
            </a:r>
            <a:r>
              <a:rPr lang="en-US" dirty="0"/>
              <a:t>. </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388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C16BA-D9AF-89AC-564D-4B74FE30A50E}"/>
              </a:ext>
            </a:extLst>
          </p:cNvPr>
          <p:cNvSpPr>
            <a:spLocks noGrp="1"/>
          </p:cNvSpPr>
          <p:nvPr>
            <p:ph type="title"/>
          </p:nvPr>
        </p:nvSpPr>
        <p:spPr>
          <a:xfrm>
            <a:off x="838200" y="344805"/>
            <a:ext cx="10515600" cy="1325563"/>
          </a:xfrm>
        </p:spPr>
        <p:txBody>
          <a:bodyPr/>
          <a:lstStyle/>
          <a:p>
            <a:r>
              <a:rPr lang="en-US" dirty="0">
                <a:solidFill>
                  <a:srgbClr val="FF0000"/>
                </a:solidFill>
                <a:latin typeface="Times New Roman" panose="02020603050405020304" pitchFamily="18" charset="0"/>
                <a:cs typeface="Times New Roman" panose="02020603050405020304" pitchFamily="18" charset="0"/>
              </a:rPr>
              <a:t>Key Questions This Project Answers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CBF5E5-15E6-C3B7-1B7B-18430155D31B}"/>
              </a:ext>
            </a:extLst>
          </p:cNvPr>
          <p:cNvSpPr>
            <a:spLocks noGrp="1"/>
          </p:cNvSpPr>
          <p:nvPr>
            <p:ph idx="1"/>
          </p:nvPr>
        </p:nvSpPr>
        <p:spPr>
          <a:xfrm>
            <a:off x="838200" y="1825625"/>
            <a:ext cx="10114935" cy="3690272"/>
          </a:xfrm>
        </p:spPr>
        <p:txBody>
          <a:bodyPr>
            <a:normAutofit/>
          </a:bodyPr>
          <a:lstStyle/>
          <a:p>
            <a:pPr marL="0" indent="0">
              <a:buNone/>
            </a:pPr>
            <a:r>
              <a:rPr lang="en-US" dirty="0"/>
              <a:t>This analysis tries to answer:</a:t>
            </a:r>
          </a:p>
          <a:p>
            <a:r>
              <a:rPr lang="en-US" dirty="0"/>
              <a:t>Is higher price really worth it?</a:t>
            </a:r>
          </a:p>
          <a:p>
            <a:r>
              <a:rPr lang="en-US" dirty="0"/>
              <a:t>Do higher discounts mean better value?</a:t>
            </a:r>
          </a:p>
          <a:p>
            <a:r>
              <a:rPr lang="en-US" dirty="0"/>
              <a:t>Do premium brands get better ratings?</a:t>
            </a:r>
          </a:p>
          <a:p>
            <a:r>
              <a:rPr lang="en-US" dirty="0"/>
              <a:t>Does a higher Bluetooth version increase price?</a:t>
            </a:r>
          </a:p>
          <a:p>
            <a:r>
              <a:rPr lang="en-US" dirty="0"/>
              <a:t>Which feature combination gives best value for money?</a:t>
            </a:r>
          </a:p>
          <a:p>
            <a:endParaRPr lang="en-IN" dirty="0"/>
          </a:p>
        </p:txBody>
      </p:sp>
    </p:spTree>
    <p:extLst>
      <p:ext uri="{BB962C8B-B14F-4D97-AF65-F5344CB8AC3E}">
        <p14:creationId xmlns:p14="http://schemas.microsoft.com/office/powerpoint/2010/main" val="33332964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C3A4-5906-3D7B-9A63-FD37DCF44A3E}"/>
              </a:ext>
            </a:extLst>
          </p:cNvPr>
          <p:cNvSpPr>
            <a:spLocks noGrp="1"/>
          </p:cNvSpPr>
          <p:nvPr>
            <p:ph type="title"/>
          </p:nvPr>
        </p:nvSpPr>
        <p:spPr/>
        <p:txBody>
          <a:bodyPr/>
          <a:lstStyle/>
          <a:p>
            <a:r>
              <a:rPr lang="en-IN" dirty="0">
                <a:solidFill>
                  <a:srgbClr val="FF0000"/>
                </a:solidFill>
                <a:latin typeface="Times New Roman" panose="02020603050405020304" pitchFamily="18" charset="0"/>
                <a:cs typeface="Times New Roman" panose="02020603050405020304" pitchFamily="18" charset="0"/>
              </a:rPr>
              <a:t>Objective of the Project</a:t>
            </a:r>
          </a:p>
        </p:txBody>
      </p:sp>
      <p:sp>
        <p:nvSpPr>
          <p:cNvPr id="3" name="Content Placeholder 2">
            <a:extLst>
              <a:ext uri="{FF2B5EF4-FFF2-40B4-BE49-F238E27FC236}">
                <a16:creationId xmlns:a16="http://schemas.microsoft.com/office/drawing/2014/main" id="{6F5106EE-CDD0-24AC-936A-AD9E07889EA6}"/>
              </a:ext>
            </a:extLst>
          </p:cNvPr>
          <p:cNvSpPr>
            <a:spLocks noGrp="1"/>
          </p:cNvSpPr>
          <p:nvPr>
            <p:ph idx="1"/>
          </p:nvPr>
        </p:nvSpPr>
        <p:spPr>
          <a:xfrm>
            <a:off x="838200" y="1789471"/>
            <a:ext cx="10515600" cy="4387491"/>
          </a:xfrm>
        </p:spPr>
        <p:txBody>
          <a:bodyPr>
            <a:normAutofit/>
          </a:bodyPr>
          <a:lstStyle/>
          <a:p>
            <a:pPr marL="0" indent="0">
              <a:lnSpc>
                <a:spcPct val="110000"/>
              </a:lnSpc>
              <a:buNone/>
            </a:pPr>
            <a:r>
              <a:rPr lang="en-US" sz="2200" dirty="0"/>
              <a:t>The primary objective of this project is to use </a:t>
            </a:r>
            <a:r>
              <a:rPr lang="en-US" sz="2200" b="1" dirty="0"/>
              <a:t>Exploratory Data Analysis (EDA)</a:t>
            </a:r>
            <a:r>
              <a:rPr lang="en-US" sz="2200" dirty="0"/>
              <a:t> to identify the key factors that truly influence </a:t>
            </a:r>
            <a:r>
              <a:rPr lang="en-US" sz="2200" b="1" dirty="0"/>
              <a:t>value for money</a:t>
            </a:r>
            <a:r>
              <a:rPr lang="en-US" sz="2200" dirty="0"/>
              <a:t> and </a:t>
            </a:r>
            <a:r>
              <a:rPr lang="en-US" sz="2200" b="1" dirty="0"/>
              <a:t>customer satisfaction</a:t>
            </a:r>
            <a:r>
              <a:rPr lang="en-US" sz="2200" dirty="0"/>
              <a:t> in the wireless earbuds market.</a:t>
            </a:r>
          </a:p>
          <a:p>
            <a:pPr marL="0" indent="0">
              <a:lnSpc>
                <a:spcPct val="110000"/>
              </a:lnSpc>
              <a:buNone/>
            </a:pPr>
            <a:endParaRPr lang="en-IN" dirty="0"/>
          </a:p>
          <a:p>
            <a:r>
              <a:rPr lang="en-IN" dirty="0"/>
              <a:t>Understand pricing patterns</a:t>
            </a:r>
          </a:p>
          <a:p>
            <a:r>
              <a:rPr lang="en-IN" dirty="0"/>
              <a:t>Study discounts vs ratings</a:t>
            </a:r>
          </a:p>
          <a:p>
            <a:r>
              <a:rPr lang="en-IN" dirty="0"/>
              <a:t>Analyse technology (Bluetooth versions)</a:t>
            </a:r>
          </a:p>
          <a:p>
            <a:r>
              <a:rPr lang="en-US" dirty="0"/>
              <a:t>Identify what truly influences customer satisfaction</a:t>
            </a:r>
            <a:r>
              <a:rPr lang="en-IN" dirty="0"/>
              <a:t>.</a:t>
            </a:r>
            <a:endParaRPr lang="en-US" dirty="0"/>
          </a:p>
        </p:txBody>
      </p:sp>
    </p:spTree>
    <p:extLst>
      <p:ext uri="{BB962C8B-B14F-4D97-AF65-F5344CB8AC3E}">
        <p14:creationId xmlns:p14="http://schemas.microsoft.com/office/powerpoint/2010/main" val="318111462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36F1E-DD65-C09A-85F0-F2EDF9B9EBC2}"/>
              </a:ext>
            </a:extLst>
          </p:cNvPr>
          <p:cNvSpPr>
            <a:spLocks noGrp="1"/>
          </p:cNvSpPr>
          <p:nvPr>
            <p:ph type="title"/>
          </p:nvPr>
        </p:nvSpPr>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Data Overview </a:t>
            </a:r>
            <a:r>
              <a:rPr lang="en-US" sz="4000" b="1" dirty="0">
                <a:solidFill>
                  <a:srgbClr val="FF0000"/>
                </a:solidFill>
              </a:rPr>
              <a:t>:</a:t>
            </a:r>
            <a:endParaRPr lang="en-IN" sz="4000" b="1" dirty="0">
              <a:solidFill>
                <a:srgbClr val="FF0000"/>
              </a:solidFill>
            </a:endParaRPr>
          </a:p>
        </p:txBody>
      </p:sp>
      <p:sp>
        <p:nvSpPr>
          <p:cNvPr id="3" name="Content Placeholder 2">
            <a:extLst>
              <a:ext uri="{FF2B5EF4-FFF2-40B4-BE49-F238E27FC236}">
                <a16:creationId xmlns:a16="http://schemas.microsoft.com/office/drawing/2014/main" id="{92DAB1CE-978D-C64E-BE9D-59149C9A57B5}"/>
              </a:ext>
            </a:extLst>
          </p:cNvPr>
          <p:cNvSpPr>
            <a:spLocks noGrp="1"/>
          </p:cNvSpPr>
          <p:nvPr>
            <p:ph idx="1"/>
          </p:nvPr>
        </p:nvSpPr>
        <p:spPr>
          <a:xfrm>
            <a:off x="838201" y="1603557"/>
            <a:ext cx="9149079" cy="4325295"/>
          </a:xfrm>
        </p:spPr>
        <p:txBody>
          <a:bodyPr>
            <a:normAutofit/>
          </a:bodyPr>
          <a:lstStyle/>
          <a:p>
            <a:pPr marL="0" indent="0">
              <a:buNone/>
            </a:pPr>
            <a:r>
              <a:rPr lang="en-IN" dirty="0"/>
              <a:t>The dataset includes:</a:t>
            </a:r>
          </a:p>
          <a:p>
            <a:r>
              <a:rPr lang="en-IN" sz="1800" b="1" dirty="0"/>
              <a:t>Brand </a:t>
            </a:r>
            <a:r>
              <a:rPr lang="en-IN" sz="1800" dirty="0"/>
              <a:t>Noise, boat, JBL, OnePlus, Boult, etc.</a:t>
            </a:r>
            <a:endParaRPr lang="en-IN" sz="1800" b="1" dirty="0"/>
          </a:p>
          <a:p>
            <a:r>
              <a:rPr lang="en-IN" sz="1800" b="1" dirty="0"/>
              <a:t>Bluetooth Version </a:t>
            </a:r>
            <a:r>
              <a:rPr lang="en-IN" sz="1800" dirty="0"/>
              <a:t>5.0, 5.1, 5.2, 5.3</a:t>
            </a:r>
            <a:endParaRPr lang="en-IN" sz="1800" b="1" dirty="0"/>
          </a:p>
          <a:p>
            <a:r>
              <a:rPr lang="en-IN" sz="1800" b="1" dirty="0"/>
              <a:t>Colour </a:t>
            </a:r>
            <a:r>
              <a:rPr lang="en-IN" sz="1800" dirty="0"/>
              <a:t>Product colour</a:t>
            </a:r>
            <a:endParaRPr lang="en-IN" sz="1800" b="1" dirty="0"/>
          </a:p>
          <a:p>
            <a:r>
              <a:rPr lang="en-IN" sz="1800" b="1" dirty="0"/>
              <a:t>MRP </a:t>
            </a:r>
            <a:r>
              <a:rPr lang="en-IN" sz="1800" dirty="0"/>
              <a:t>Original price</a:t>
            </a:r>
            <a:endParaRPr lang="en-IN" sz="1800" b="1" dirty="0"/>
          </a:p>
          <a:p>
            <a:r>
              <a:rPr lang="en-IN" sz="1800" b="1" dirty="0"/>
              <a:t>Selling Price </a:t>
            </a:r>
            <a:r>
              <a:rPr lang="en-IN" sz="1800" dirty="0"/>
              <a:t>Discounted price</a:t>
            </a:r>
            <a:endParaRPr lang="en-IN" sz="1800" b="1" dirty="0"/>
          </a:p>
          <a:p>
            <a:r>
              <a:rPr lang="en-IN" sz="1800" b="1" dirty="0"/>
              <a:t>Discount Percentage </a:t>
            </a:r>
            <a:r>
              <a:rPr lang="en-IN" sz="1800" dirty="0"/>
              <a:t>Price reduction rate</a:t>
            </a:r>
            <a:endParaRPr lang="en-IN" sz="1800" b="1" dirty="0"/>
          </a:p>
          <a:p>
            <a:r>
              <a:rPr lang="en-IN" sz="1800" b="1" dirty="0"/>
              <a:t>Discount Amount </a:t>
            </a:r>
            <a:r>
              <a:rPr lang="en-IN" sz="1800" dirty="0"/>
              <a:t>Savings value</a:t>
            </a:r>
            <a:endParaRPr lang="en-IN" sz="1800" b="1" dirty="0"/>
          </a:p>
          <a:p>
            <a:r>
              <a:rPr lang="en-IN" sz="1800" b="1" dirty="0"/>
              <a:t>Customer Ratings </a:t>
            </a:r>
            <a:r>
              <a:rPr lang="en-IN" sz="1800" dirty="0"/>
              <a:t>User feedback score</a:t>
            </a:r>
            <a:endParaRPr lang="en-IN" sz="1800" b="1" dirty="0"/>
          </a:p>
          <a:p>
            <a:pPr marL="0" indent="0">
              <a:buNone/>
            </a:pPr>
            <a:endParaRPr lang="en-IN" dirty="0"/>
          </a:p>
        </p:txBody>
      </p:sp>
    </p:spTree>
    <p:extLst>
      <p:ext uri="{BB962C8B-B14F-4D97-AF65-F5344CB8AC3E}">
        <p14:creationId xmlns:p14="http://schemas.microsoft.com/office/powerpoint/2010/main" val="1145544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02D6F-CF93-ED7F-285B-2EA1615131B6}"/>
              </a:ext>
            </a:extLst>
          </p:cNvPr>
          <p:cNvSpPr>
            <a:spLocks noGrp="1"/>
          </p:cNvSpPr>
          <p:nvPr>
            <p:ph type="title"/>
          </p:nvPr>
        </p:nvSpPr>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Web Scraping: Details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486328-15C0-C142-E3CA-1C8D8B3B45BF}"/>
              </a:ext>
            </a:extLst>
          </p:cNvPr>
          <p:cNvSpPr>
            <a:spLocks noGrp="1"/>
          </p:cNvSpPr>
          <p:nvPr>
            <p:ph idx="1"/>
          </p:nvPr>
        </p:nvSpPr>
        <p:spPr>
          <a:xfrm>
            <a:off x="838200" y="1825625"/>
            <a:ext cx="10793361" cy="4408027"/>
          </a:xfrm>
        </p:spPr>
        <p:txBody>
          <a:bodyPr>
            <a:normAutofit/>
          </a:bodyPr>
          <a:lstStyle/>
          <a:p>
            <a:pPr marL="0" indent="0">
              <a:buNone/>
            </a:pPr>
            <a:r>
              <a:rPr lang="en-IN" dirty="0"/>
              <a:t>Web Scraping – Project Details</a:t>
            </a:r>
          </a:p>
          <a:p>
            <a:r>
              <a:rPr lang="en-IN" sz="2200" b="1" dirty="0"/>
              <a:t>Website Source</a:t>
            </a:r>
            <a:r>
              <a:rPr lang="en-IN" sz="2200" dirty="0"/>
              <a:t>: E-commerce platform (Wireless Earbuds listings)</a:t>
            </a:r>
          </a:p>
          <a:p>
            <a:r>
              <a:rPr lang="en-US" sz="2200" b="1" dirty="0"/>
              <a:t>Tools Used</a:t>
            </a:r>
            <a:r>
              <a:rPr lang="en-US" sz="2200" dirty="0"/>
              <a:t>: Python, Selenium, Requests</a:t>
            </a:r>
          </a:p>
          <a:p>
            <a:r>
              <a:rPr lang="en-US" sz="2200" b="1" dirty="0"/>
              <a:t>Purpose</a:t>
            </a:r>
            <a:r>
              <a:rPr lang="en-US" sz="2200" dirty="0"/>
              <a:t>: To collect real-world market data for analysis</a:t>
            </a:r>
          </a:p>
          <a:p>
            <a:pPr marL="0" indent="0">
              <a:buNone/>
            </a:pPr>
            <a:r>
              <a:rPr lang="en-IN" b="1" dirty="0"/>
              <a:t>Scraping Approach</a:t>
            </a:r>
          </a:p>
          <a:p>
            <a:r>
              <a:rPr lang="en-US" sz="2000" dirty="0"/>
              <a:t>Crawled multiple paginated product listing pages</a:t>
            </a:r>
            <a:endParaRPr lang="en-IN" sz="2000" dirty="0"/>
          </a:p>
          <a:p>
            <a:r>
              <a:rPr lang="en-US" sz="2000" dirty="0"/>
              <a:t>Handled dynamic content loading using Selenium</a:t>
            </a:r>
            <a:endParaRPr lang="en-IN" sz="2000" dirty="0"/>
          </a:p>
          <a:p>
            <a:r>
              <a:rPr lang="en-IN" sz="2000" dirty="0"/>
              <a:t>Extracted structured product-level information</a:t>
            </a:r>
          </a:p>
          <a:p>
            <a:r>
              <a:rPr lang="en-US" sz="2000" dirty="0"/>
              <a:t>Stored scraped data into a Pandas Data Frame for analysis</a:t>
            </a:r>
          </a:p>
          <a:p>
            <a:endParaRPr lang="en-IN" dirty="0"/>
          </a:p>
        </p:txBody>
      </p:sp>
    </p:spTree>
    <p:extLst>
      <p:ext uri="{BB962C8B-B14F-4D97-AF65-F5344CB8AC3E}">
        <p14:creationId xmlns:p14="http://schemas.microsoft.com/office/powerpoint/2010/main" val="311093299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9629D-EDF5-5DC2-5688-BD4046F54686}"/>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Summary Of The Data</a:t>
            </a:r>
          </a:p>
        </p:txBody>
      </p:sp>
      <p:sp>
        <p:nvSpPr>
          <p:cNvPr id="3" name="Content Placeholder 2">
            <a:extLst>
              <a:ext uri="{FF2B5EF4-FFF2-40B4-BE49-F238E27FC236}">
                <a16:creationId xmlns:a16="http://schemas.microsoft.com/office/drawing/2014/main" id="{8A2629B1-7FA9-363D-2D50-44A23CD034BD}"/>
              </a:ext>
            </a:extLst>
          </p:cNvPr>
          <p:cNvSpPr>
            <a:spLocks noGrp="1"/>
          </p:cNvSpPr>
          <p:nvPr>
            <p:ph idx="1"/>
          </p:nvPr>
        </p:nvSpPr>
        <p:spPr/>
        <p:txBody>
          <a:bodyPr/>
          <a:lstStyle/>
          <a:p>
            <a:pPr>
              <a:lnSpc>
                <a:spcPct val="100000"/>
              </a:lnSpc>
            </a:pPr>
            <a:r>
              <a:rPr lang="en-IN" sz="1800" dirty="0"/>
              <a:t>430+ earbud variants</a:t>
            </a:r>
          </a:p>
          <a:p>
            <a:pPr>
              <a:lnSpc>
                <a:spcPct val="100000"/>
              </a:lnSpc>
            </a:pPr>
            <a:r>
              <a:rPr lang="en-US" sz="1800" dirty="0"/>
              <a:t>7 columns: Brand, Bluetooth Version, Color, MRP, Selling Price, Rating, Discount Percentage</a:t>
            </a:r>
            <a:endParaRPr lang="en-IN" sz="1800" dirty="0"/>
          </a:p>
          <a:p>
            <a:pPr>
              <a:lnSpc>
                <a:spcPct val="100000"/>
              </a:lnSpc>
            </a:pPr>
            <a:r>
              <a:rPr lang="en-IN" sz="1800" dirty="0"/>
              <a:t>Multiple brands included: Noise, boat, JBL, OnePlus, Boult ,etc.</a:t>
            </a:r>
          </a:p>
          <a:p>
            <a:pPr marL="0" indent="0">
              <a:lnSpc>
                <a:spcPct val="100000"/>
              </a:lnSpc>
              <a:buNone/>
            </a:pPr>
            <a:endParaRPr lang="en-IN" sz="1800" dirty="0"/>
          </a:p>
          <a:p>
            <a:pPr>
              <a:lnSpc>
                <a:spcPct val="100000"/>
              </a:lnSpc>
            </a:pPr>
            <a:endParaRPr lang="en-IN" dirty="0"/>
          </a:p>
        </p:txBody>
      </p:sp>
      <p:pic>
        <p:nvPicPr>
          <p:cNvPr id="5" name="Picture 4">
            <a:extLst>
              <a:ext uri="{FF2B5EF4-FFF2-40B4-BE49-F238E27FC236}">
                <a16:creationId xmlns:a16="http://schemas.microsoft.com/office/drawing/2014/main" id="{BD8D939B-2CC2-7566-C5E4-FBD01DEF01A4}"/>
              </a:ext>
            </a:extLst>
          </p:cNvPr>
          <p:cNvPicPr>
            <a:picLocks noChangeAspect="1"/>
          </p:cNvPicPr>
          <p:nvPr/>
        </p:nvPicPr>
        <p:blipFill>
          <a:blip r:embed="rId2"/>
          <a:stretch>
            <a:fillRect/>
          </a:stretch>
        </p:blipFill>
        <p:spPr>
          <a:xfrm>
            <a:off x="1550845" y="3237428"/>
            <a:ext cx="8065104" cy="2152950"/>
          </a:xfrm>
          <a:prstGeom prst="rect">
            <a:avLst/>
          </a:prstGeom>
        </p:spPr>
      </p:pic>
    </p:spTree>
    <p:extLst>
      <p:ext uri="{BB962C8B-B14F-4D97-AF65-F5344CB8AC3E}">
        <p14:creationId xmlns:p14="http://schemas.microsoft.com/office/powerpoint/2010/main" val="402228233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8A504-A7A0-675B-AD57-92DC1558647A}"/>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Data Cleaning</a:t>
            </a:r>
          </a:p>
        </p:txBody>
      </p:sp>
      <p:sp>
        <p:nvSpPr>
          <p:cNvPr id="4" name="Rectangle 1">
            <a:extLst>
              <a:ext uri="{FF2B5EF4-FFF2-40B4-BE49-F238E27FC236}">
                <a16:creationId xmlns:a16="http://schemas.microsoft.com/office/drawing/2014/main" id="{E0391A7C-222E-B4A8-FA1E-2305FDE3C8D9}"/>
              </a:ext>
            </a:extLst>
          </p:cNvPr>
          <p:cNvSpPr>
            <a:spLocks noGrp="1" noChangeArrowheads="1"/>
          </p:cNvSpPr>
          <p:nvPr>
            <p:ph idx="1"/>
          </p:nvPr>
        </p:nvSpPr>
        <p:spPr bwMode="auto">
          <a:xfrm>
            <a:off x="838200" y="1314453"/>
            <a:ext cx="584773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rPr>
              <a:t>Converted </a:t>
            </a:r>
            <a:r>
              <a:rPr kumimoji="0" lang="en-US" altLang="en-US" sz="1600" b="1" i="0" u="none" strike="noStrike" cap="none" normalizeH="0" baseline="0" dirty="0">
                <a:ln>
                  <a:noFill/>
                </a:ln>
                <a:solidFill>
                  <a:schemeClr val="tx1"/>
                </a:solidFill>
                <a:effectLst/>
                <a:latin typeface="Arial" panose="020B0604020202020204" pitchFamily="34" charset="0"/>
              </a:rPr>
              <a:t>MRP</a:t>
            </a:r>
            <a:r>
              <a:rPr kumimoji="0" lang="en-US" altLang="en-US" sz="1600" b="0" i="0" u="none" strike="noStrike" cap="none" normalizeH="0" baseline="0" dirty="0">
                <a:ln>
                  <a:noFill/>
                </a:ln>
                <a:solidFill>
                  <a:schemeClr val="tx1"/>
                </a:solidFill>
                <a:effectLst/>
                <a:latin typeface="Arial" panose="020B0604020202020204" pitchFamily="34" charset="0"/>
              </a:rPr>
              <a:t> from string to integer by removing commas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Converted </a:t>
            </a:r>
            <a:r>
              <a:rPr kumimoji="0" lang="en-US" altLang="en-US" sz="1600" b="1" i="0" u="none" strike="noStrike" cap="none" normalizeH="0" baseline="0" dirty="0">
                <a:ln>
                  <a:noFill/>
                </a:ln>
                <a:solidFill>
                  <a:schemeClr val="tx1"/>
                </a:solidFill>
                <a:effectLst/>
                <a:latin typeface="Arial" panose="020B0604020202020204" pitchFamily="34" charset="0"/>
              </a:rPr>
              <a:t>Selling Price</a:t>
            </a:r>
            <a:r>
              <a:rPr kumimoji="0" lang="en-US" altLang="en-US" sz="1600" b="0" i="0" u="none" strike="noStrike" cap="none" normalizeH="0" baseline="0" dirty="0">
                <a:ln>
                  <a:noFill/>
                </a:ln>
                <a:solidFill>
                  <a:schemeClr val="tx1"/>
                </a:solidFill>
                <a:effectLst/>
                <a:latin typeface="Arial" panose="020B0604020202020204" pitchFamily="34" charset="0"/>
              </a:rPr>
              <a:t> from string to integer by removing commas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Converted </a:t>
            </a:r>
            <a:r>
              <a:rPr kumimoji="0" lang="en-US" altLang="en-US" sz="1600" b="1" i="0" u="none" strike="noStrike" cap="none" normalizeH="0" baseline="0" dirty="0">
                <a:ln>
                  <a:noFill/>
                </a:ln>
                <a:solidFill>
                  <a:schemeClr val="tx1"/>
                </a:solidFill>
                <a:effectLst/>
                <a:latin typeface="Arial" panose="020B0604020202020204" pitchFamily="34" charset="0"/>
              </a:rPr>
              <a:t>Rating</a:t>
            </a:r>
            <a:r>
              <a:rPr kumimoji="0" lang="en-US" altLang="en-US" sz="1600" b="0" i="0" u="none" strike="noStrike" cap="none" normalizeH="0" baseline="0" dirty="0">
                <a:ln>
                  <a:noFill/>
                </a:ln>
                <a:solidFill>
                  <a:schemeClr val="tx1"/>
                </a:solidFill>
                <a:effectLst/>
                <a:latin typeface="Arial" panose="020B0604020202020204" pitchFamily="34" charset="0"/>
              </a:rPr>
              <a:t> column to numeric (float) using coercion for invalid values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Converted </a:t>
            </a:r>
            <a:r>
              <a:rPr kumimoji="0" lang="en-US" altLang="en-US" sz="1600" b="1" i="0" u="none" strike="noStrike" cap="none" normalizeH="0" baseline="0" dirty="0">
                <a:ln>
                  <a:noFill/>
                </a:ln>
                <a:solidFill>
                  <a:schemeClr val="tx1"/>
                </a:solidFill>
                <a:effectLst/>
                <a:latin typeface="Arial" panose="020B0604020202020204" pitchFamily="34" charset="0"/>
              </a:rPr>
              <a:t>Bluetooth Version</a:t>
            </a:r>
            <a:r>
              <a:rPr kumimoji="0" lang="en-US" altLang="en-US" sz="1600" b="0" i="0" u="none" strike="noStrike" cap="none" normalizeH="0" baseline="0" dirty="0">
                <a:ln>
                  <a:noFill/>
                </a:ln>
                <a:solidFill>
                  <a:schemeClr val="tx1"/>
                </a:solidFill>
                <a:effectLst/>
                <a:latin typeface="Arial" panose="020B0604020202020204" pitchFamily="34" charset="0"/>
              </a:rPr>
              <a:t> to numeric format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Handled </a:t>
            </a:r>
            <a:r>
              <a:rPr kumimoji="0" lang="en-US" altLang="en-US" sz="1600" b="1" i="0" u="none" strike="noStrike" cap="none" normalizeH="0" baseline="0" dirty="0">
                <a:ln>
                  <a:noFill/>
                </a:ln>
                <a:solidFill>
                  <a:schemeClr val="tx1"/>
                </a:solidFill>
                <a:effectLst/>
                <a:latin typeface="Arial" panose="020B0604020202020204" pitchFamily="34" charset="0"/>
              </a:rPr>
              <a:t>missing values</a:t>
            </a:r>
            <a:r>
              <a:rPr kumimoji="0" lang="en-US" altLang="en-US" sz="1600" b="0" i="0" u="none" strike="noStrike" cap="none" normalizeH="0" baseline="0" dirty="0">
                <a:ln>
                  <a:noFill/>
                </a:ln>
                <a:solidFill>
                  <a:schemeClr val="tx1"/>
                </a:solidFill>
                <a:effectLst/>
                <a:latin typeface="Arial" panose="020B0604020202020204" pitchFamily="34" charset="0"/>
              </a:rPr>
              <a:t> in numeric columns using median imputation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Capped </a:t>
            </a:r>
            <a:r>
              <a:rPr kumimoji="0" lang="en-US" altLang="en-US" sz="1600" b="1" i="0" u="none" strike="noStrike" cap="none" normalizeH="0" baseline="0" dirty="0">
                <a:ln>
                  <a:noFill/>
                </a:ln>
                <a:solidFill>
                  <a:schemeClr val="tx1"/>
                </a:solidFill>
                <a:effectLst/>
                <a:latin typeface="Arial" panose="020B0604020202020204" pitchFamily="34" charset="0"/>
              </a:rPr>
              <a:t>Discount Percentage</a:t>
            </a:r>
            <a:r>
              <a:rPr kumimoji="0" lang="en-US" altLang="en-US" sz="1600" b="0" i="0" u="none" strike="noStrike" cap="none" normalizeH="0" baseline="0" dirty="0">
                <a:ln>
                  <a:noFill/>
                </a:ln>
                <a:solidFill>
                  <a:schemeClr val="tx1"/>
                </a:solidFill>
                <a:effectLst/>
                <a:latin typeface="Arial" panose="020B0604020202020204" pitchFamily="34" charset="0"/>
              </a:rPr>
              <a:t> values above 90 to avoid unrealistic discounts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Ensured all numeric columns have correct and consistent data types</a:t>
            </a:r>
          </a:p>
        </p:txBody>
      </p:sp>
      <p:pic>
        <p:nvPicPr>
          <p:cNvPr id="5" name="Picture 4">
            <a:extLst>
              <a:ext uri="{FF2B5EF4-FFF2-40B4-BE49-F238E27FC236}">
                <a16:creationId xmlns:a16="http://schemas.microsoft.com/office/drawing/2014/main" id="{8C61786B-F057-D244-904E-6A4D5E28FB57}"/>
              </a:ext>
            </a:extLst>
          </p:cNvPr>
          <p:cNvPicPr>
            <a:picLocks noChangeAspect="1"/>
          </p:cNvPicPr>
          <p:nvPr/>
        </p:nvPicPr>
        <p:blipFill>
          <a:blip r:embed="rId2"/>
          <a:stretch>
            <a:fillRect/>
          </a:stretch>
        </p:blipFill>
        <p:spPr>
          <a:xfrm>
            <a:off x="6607277" y="1373809"/>
            <a:ext cx="5054378" cy="4169738"/>
          </a:xfrm>
          <a:prstGeom prst="rect">
            <a:avLst/>
          </a:prstGeom>
        </p:spPr>
      </p:pic>
    </p:spTree>
    <p:extLst>
      <p:ext uri="{BB962C8B-B14F-4D97-AF65-F5344CB8AC3E}">
        <p14:creationId xmlns:p14="http://schemas.microsoft.com/office/powerpoint/2010/main" val="148686959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59922-F91C-E114-D4D9-48B1FDB7DADE}"/>
              </a:ext>
            </a:extLst>
          </p:cNvPr>
          <p:cNvSpPr>
            <a:spLocks noGrp="1"/>
          </p:cNvSpPr>
          <p:nvPr>
            <p:ph type="title"/>
          </p:nvPr>
        </p:nvSpPr>
        <p:spPr>
          <a:xfrm>
            <a:off x="894080" y="197957"/>
            <a:ext cx="5545393" cy="865238"/>
          </a:xfrm>
        </p:spPr>
        <p:txBody>
          <a:bodyPr/>
          <a:lstStyle/>
          <a:p>
            <a:r>
              <a:rPr lang="en-IN" b="1" dirty="0">
                <a:solidFill>
                  <a:srgbClr val="FF0000"/>
                </a:solidFill>
                <a:latin typeface="Times New Roman" panose="02020603050405020304" pitchFamily="18" charset="0"/>
                <a:cs typeface="Times New Roman" panose="02020603050405020304" pitchFamily="18" charset="0"/>
              </a:rPr>
              <a:t>Data Manipulation</a:t>
            </a:r>
          </a:p>
        </p:txBody>
      </p:sp>
      <p:sp>
        <p:nvSpPr>
          <p:cNvPr id="10" name="Rectangle 4">
            <a:extLst>
              <a:ext uri="{FF2B5EF4-FFF2-40B4-BE49-F238E27FC236}">
                <a16:creationId xmlns:a16="http://schemas.microsoft.com/office/drawing/2014/main" id="{6C137463-5B00-B595-9915-B404B773CCED}"/>
              </a:ext>
            </a:extLst>
          </p:cNvPr>
          <p:cNvSpPr>
            <a:spLocks noGrp="1" noChangeArrowheads="1"/>
          </p:cNvSpPr>
          <p:nvPr>
            <p:ph idx="1"/>
          </p:nvPr>
        </p:nvSpPr>
        <p:spPr bwMode="auto">
          <a:xfrm>
            <a:off x="894080" y="1228495"/>
            <a:ext cx="96113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Standardized pricing data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Created discount-related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Applied conditional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Prepared data for visualization &amp; insights</a:t>
            </a:r>
          </a:p>
        </p:txBody>
      </p:sp>
    </p:spTree>
    <p:extLst>
      <p:ext uri="{BB962C8B-B14F-4D97-AF65-F5344CB8AC3E}">
        <p14:creationId xmlns:p14="http://schemas.microsoft.com/office/powerpoint/2010/main" val="361339358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AB72-7BB4-E02C-EE64-E28403FF8676}"/>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Univariate Analysis</a:t>
            </a:r>
          </a:p>
        </p:txBody>
      </p:sp>
      <p:sp>
        <p:nvSpPr>
          <p:cNvPr id="5" name="TextBox 4">
            <a:extLst>
              <a:ext uri="{FF2B5EF4-FFF2-40B4-BE49-F238E27FC236}">
                <a16:creationId xmlns:a16="http://schemas.microsoft.com/office/drawing/2014/main" id="{4346BB18-0F80-E45F-8457-5B99C777DD13}"/>
              </a:ext>
            </a:extLst>
          </p:cNvPr>
          <p:cNvSpPr txBox="1"/>
          <p:nvPr/>
        </p:nvSpPr>
        <p:spPr>
          <a:xfrm>
            <a:off x="914401" y="2074606"/>
            <a:ext cx="9960076" cy="954107"/>
          </a:xfrm>
          <a:prstGeom prst="rect">
            <a:avLst/>
          </a:prstGeom>
          <a:noFill/>
        </p:spPr>
        <p:txBody>
          <a:bodyPr wrap="square" rtlCol="0">
            <a:spAutoFit/>
          </a:bodyPr>
          <a:lstStyle/>
          <a:p>
            <a:r>
              <a:rPr lang="en-US" sz="2800" dirty="0"/>
              <a:t>Which wireless earbud brands have the highest market presence in the dataset?</a:t>
            </a:r>
            <a:endParaRPr lang="en-IN" sz="2800" dirty="0"/>
          </a:p>
        </p:txBody>
      </p:sp>
      <p:pic>
        <p:nvPicPr>
          <p:cNvPr id="7" name="Picture 6">
            <a:extLst>
              <a:ext uri="{FF2B5EF4-FFF2-40B4-BE49-F238E27FC236}">
                <a16:creationId xmlns:a16="http://schemas.microsoft.com/office/drawing/2014/main" id="{60FEC22A-98B1-C6A6-BE39-BD9F338959CD}"/>
              </a:ext>
            </a:extLst>
          </p:cNvPr>
          <p:cNvPicPr>
            <a:picLocks noChangeAspect="1"/>
          </p:cNvPicPr>
          <p:nvPr/>
        </p:nvPicPr>
        <p:blipFill>
          <a:blip r:embed="rId2"/>
          <a:stretch>
            <a:fillRect/>
          </a:stretch>
        </p:blipFill>
        <p:spPr>
          <a:xfrm>
            <a:off x="3132130" y="3028713"/>
            <a:ext cx="4704180" cy="3136514"/>
          </a:xfrm>
          <a:prstGeom prst="rect">
            <a:avLst/>
          </a:prstGeom>
        </p:spPr>
      </p:pic>
      <p:sp>
        <p:nvSpPr>
          <p:cNvPr id="8" name="TextBox 7">
            <a:extLst>
              <a:ext uri="{FF2B5EF4-FFF2-40B4-BE49-F238E27FC236}">
                <a16:creationId xmlns:a16="http://schemas.microsoft.com/office/drawing/2014/main" id="{D6179F98-E3ED-EFC1-889B-0E63D3A08B1C}"/>
              </a:ext>
            </a:extLst>
          </p:cNvPr>
          <p:cNvSpPr txBox="1"/>
          <p:nvPr/>
        </p:nvSpPr>
        <p:spPr>
          <a:xfrm>
            <a:off x="838200" y="1367522"/>
            <a:ext cx="11176819" cy="646331"/>
          </a:xfrm>
          <a:prstGeom prst="rect">
            <a:avLst/>
          </a:prstGeom>
          <a:noFill/>
        </p:spPr>
        <p:txBody>
          <a:bodyPr wrap="square" rtlCol="0">
            <a:spAutoFit/>
          </a:bodyPr>
          <a:lstStyle/>
          <a:p>
            <a:r>
              <a:rPr lang="en-US" b="1" dirty="0"/>
              <a:t>Univariate Analysis</a:t>
            </a:r>
            <a:r>
              <a:rPr lang="en-US" dirty="0"/>
              <a:t> is the analysis of </a:t>
            </a:r>
            <a:r>
              <a:rPr lang="en-US" b="1" dirty="0"/>
              <a:t>a single variable at a time</a:t>
            </a:r>
            <a:r>
              <a:rPr lang="en-US" dirty="0"/>
              <a:t> to understand its </a:t>
            </a:r>
            <a:r>
              <a:rPr lang="en-US" b="1" dirty="0"/>
              <a:t>distribution, pattern, and basic characteristics</a:t>
            </a:r>
            <a:r>
              <a:rPr lang="en-US" dirty="0"/>
              <a:t>.</a:t>
            </a:r>
            <a:endParaRPr lang="en-IN" dirty="0"/>
          </a:p>
        </p:txBody>
      </p:sp>
      <p:sp>
        <p:nvSpPr>
          <p:cNvPr id="3" name="TextBox 2">
            <a:extLst>
              <a:ext uri="{FF2B5EF4-FFF2-40B4-BE49-F238E27FC236}">
                <a16:creationId xmlns:a16="http://schemas.microsoft.com/office/drawing/2014/main" id="{EC9645FC-E51F-0360-2BA3-A01269AE4ACD}"/>
              </a:ext>
            </a:extLst>
          </p:cNvPr>
          <p:cNvSpPr txBox="1"/>
          <p:nvPr/>
        </p:nvSpPr>
        <p:spPr>
          <a:xfrm>
            <a:off x="1184786" y="6165227"/>
            <a:ext cx="9960076" cy="369332"/>
          </a:xfrm>
          <a:prstGeom prst="rect">
            <a:avLst/>
          </a:prstGeom>
          <a:noFill/>
        </p:spPr>
        <p:txBody>
          <a:bodyPr wrap="square" rtlCol="0">
            <a:spAutoFit/>
          </a:bodyPr>
          <a:lstStyle/>
          <a:p>
            <a:r>
              <a:rPr lang="en-US" dirty="0"/>
              <a:t>Insight : Some brands dominate the dataset, indicating higher market presence and availability</a:t>
            </a:r>
            <a:endParaRPr lang="en-IN" dirty="0"/>
          </a:p>
        </p:txBody>
      </p:sp>
    </p:spTree>
    <p:extLst>
      <p:ext uri="{BB962C8B-B14F-4D97-AF65-F5344CB8AC3E}">
        <p14:creationId xmlns:p14="http://schemas.microsoft.com/office/powerpoint/2010/main" val="37008044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3A5DC-F597-DA5B-B04F-12E4F619B032}"/>
              </a:ext>
            </a:extLst>
          </p:cNvPr>
          <p:cNvSpPr>
            <a:spLocks noGrp="1"/>
          </p:cNvSpPr>
          <p:nvPr>
            <p:ph type="title"/>
          </p:nvPr>
        </p:nvSpPr>
        <p:spPr/>
        <p:txBody>
          <a:bodyPr/>
          <a:lstStyle/>
          <a:p>
            <a:r>
              <a:rPr lang="en-US" dirty="0"/>
              <a:t>Which Bluetooth versions are most commonly adopted in wireless earbuds?</a:t>
            </a:r>
            <a:endParaRPr lang="en-IN" dirty="0"/>
          </a:p>
        </p:txBody>
      </p:sp>
      <p:pic>
        <p:nvPicPr>
          <p:cNvPr id="4" name="Picture 3">
            <a:extLst>
              <a:ext uri="{FF2B5EF4-FFF2-40B4-BE49-F238E27FC236}">
                <a16:creationId xmlns:a16="http://schemas.microsoft.com/office/drawing/2014/main" id="{39F69362-039E-FA8F-259F-9314C44338D8}"/>
              </a:ext>
            </a:extLst>
          </p:cNvPr>
          <p:cNvPicPr>
            <a:picLocks noChangeAspect="1"/>
          </p:cNvPicPr>
          <p:nvPr/>
        </p:nvPicPr>
        <p:blipFill>
          <a:blip r:embed="rId2"/>
          <a:stretch>
            <a:fillRect/>
          </a:stretch>
        </p:blipFill>
        <p:spPr>
          <a:xfrm>
            <a:off x="2872646" y="1815252"/>
            <a:ext cx="5306165" cy="4162762"/>
          </a:xfrm>
          <a:prstGeom prst="rect">
            <a:avLst/>
          </a:prstGeom>
        </p:spPr>
      </p:pic>
      <p:sp>
        <p:nvSpPr>
          <p:cNvPr id="3" name="TextBox 2">
            <a:extLst>
              <a:ext uri="{FF2B5EF4-FFF2-40B4-BE49-F238E27FC236}">
                <a16:creationId xmlns:a16="http://schemas.microsoft.com/office/drawing/2014/main" id="{E3027A53-700C-8D46-1560-2F5667B01A85}"/>
              </a:ext>
            </a:extLst>
          </p:cNvPr>
          <p:cNvSpPr txBox="1"/>
          <p:nvPr/>
        </p:nvSpPr>
        <p:spPr>
          <a:xfrm>
            <a:off x="639097" y="5978014"/>
            <a:ext cx="11346425" cy="369332"/>
          </a:xfrm>
          <a:prstGeom prst="rect">
            <a:avLst/>
          </a:prstGeom>
          <a:noFill/>
        </p:spPr>
        <p:txBody>
          <a:bodyPr wrap="square" rtlCol="0">
            <a:spAutoFit/>
          </a:bodyPr>
          <a:lstStyle/>
          <a:p>
            <a:r>
              <a:rPr lang="en-US" dirty="0"/>
              <a:t>Insight: Higher Bluetooth versions (5.2, 5.3) appear more frequently, showing a shift toward newer technology.</a:t>
            </a:r>
            <a:endParaRPr lang="en-IN" dirty="0"/>
          </a:p>
        </p:txBody>
      </p:sp>
    </p:spTree>
    <p:extLst>
      <p:ext uri="{BB962C8B-B14F-4D97-AF65-F5344CB8AC3E}">
        <p14:creationId xmlns:p14="http://schemas.microsoft.com/office/powerpoint/2010/main" val="8841285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20A4-436E-7919-0524-CA045E72428E}"/>
              </a:ext>
            </a:extLst>
          </p:cNvPr>
          <p:cNvSpPr>
            <a:spLocks noGrp="1"/>
          </p:cNvSpPr>
          <p:nvPr>
            <p:ph type="title"/>
          </p:nvPr>
        </p:nvSpPr>
        <p:spPr/>
        <p:txBody>
          <a:bodyPr/>
          <a:lstStyle/>
          <a:p>
            <a:r>
              <a:rPr lang="en-US" dirty="0"/>
              <a:t>What price range do most wireless earbuds fall into?</a:t>
            </a:r>
            <a:endParaRPr lang="en-IN" dirty="0"/>
          </a:p>
        </p:txBody>
      </p:sp>
      <p:pic>
        <p:nvPicPr>
          <p:cNvPr id="4" name="Picture 3">
            <a:extLst>
              <a:ext uri="{FF2B5EF4-FFF2-40B4-BE49-F238E27FC236}">
                <a16:creationId xmlns:a16="http://schemas.microsoft.com/office/drawing/2014/main" id="{48BF1A20-072E-84FA-3A9A-D1BB44E0A88D}"/>
              </a:ext>
            </a:extLst>
          </p:cNvPr>
          <p:cNvPicPr>
            <a:picLocks noChangeAspect="1"/>
          </p:cNvPicPr>
          <p:nvPr/>
        </p:nvPicPr>
        <p:blipFill>
          <a:blip r:embed="rId2"/>
          <a:stretch>
            <a:fillRect/>
          </a:stretch>
        </p:blipFill>
        <p:spPr>
          <a:xfrm>
            <a:off x="2409310" y="1592826"/>
            <a:ext cx="7078819" cy="4591664"/>
          </a:xfrm>
          <a:prstGeom prst="rect">
            <a:avLst/>
          </a:prstGeom>
        </p:spPr>
      </p:pic>
      <p:sp>
        <p:nvSpPr>
          <p:cNvPr id="3" name="TextBox 2">
            <a:extLst>
              <a:ext uri="{FF2B5EF4-FFF2-40B4-BE49-F238E27FC236}">
                <a16:creationId xmlns:a16="http://schemas.microsoft.com/office/drawing/2014/main" id="{5B4133BC-28DF-60E5-DB1A-1D1D4F98163D}"/>
              </a:ext>
            </a:extLst>
          </p:cNvPr>
          <p:cNvSpPr txBox="1"/>
          <p:nvPr/>
        </p:nvSpPr>
        <p:spPr>
          <a:xfrm>
            <a:off x="924232" y="6308209"/>
            <a:ext cx="10429568" cy="369332"/>
          </a:xfrm>
          <a:prstGeom prst="rect">
            <a:avLst/>
          </a:prstGeom>
          <a:noFill/>
        </p:spPr>
        <p:txBody>
          <a:bodyPr wrap="square" rtlCol="0">
            <a:spAutoFit/>
          </a:bodyPr>
          <a:lstStyle/>
          <a:p>
            <a:r>
              <a:rPr lang="en-US" dirty="0"/>
              <a:t>Insight: Most earbuds fall into the budget to mid-range price segment, with fewer premium products.</a:t>
            </a:r>
            <a:endParaRPr lang="en-IN" dirty="0"/>
          </a:p>
        </p:txBody>
      </p:sp>
    </p:spTree>
    <p:extLst>
      <p:ext uri="{BB962C8B-B14F-4D97-AF65-F5344CB8AC3E}">
        <p14:creationId xmlns:p14="http://schemas.microsoft.com/office/powerpoint/2010/main" val="325707619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6A562-6EB8-8DF6-A9B8-1B058371536E}"/>
              </a:ext>
            </a:extLst>
          </p:cNvPr>
          <p:cNvSpPr>
            <a:spLocks noGrp="1"/>
          </p:cNvSpPr>
          <p:nvPr>
            <p:ph type="title"/>
          </p:nvPr>
        </p:nvSpPr>
        <p:spPr/>
        <p:txBody>
          <a:bodyPr/>
          <a:lstStyle/>
          <a:p>
            <a:r>
              <a:rPr lang="en-US" dirty="0"/>
              <a:t>How consistent is customer satisfaction across products, and are there rating outliers?</a:t>
            </a:r>
            <a:endParaRPr lang="en-IN" dirty="0"/>
          </a:p>
        </p:txBody>
      </p:sp>
      <p:pic>
        <p:nvPicPr>
          <p:cNvPr id="4" name="Picture 3">
            <a:extLst>
              <a:ext uri="{FF2B5EF4-FFF2-40B4-BE49-F238E27FC236}">
                <a16:creationId xmlns:a16="http://schemas.microsoft.com/office/drawing/2014/main" id="{A6DCBFC8-8021-A2F0-8291-88A7A278A4E9}"/>
              </a:ext>
            </a:extLst>
          </p:cNvPr>
          <p:cNvPicPr>
            <a:picLocks noChangeAspect="1"/>
          </p:cNvPicPr>
          <p:nvPr/>
        </p:nvPicPr>
        <p:blipFill>
          <a:blip r:embed="rId2"/>
          <a:stretch>
            <a:fillRect/>
          </a:stretch>
        </p:blipFill>
        <p:spPr>
          <a:xfrm>
            <a:off x="2680066" y="1799303"/>
            <a:ext cx="5697018" cy="4127780"/>
          </a:xfrm>
          <a:prstGeom prst="rect">
            <a:avLst/>
          </a:prstGeom>
        </p:spPr>
      </p:pic>
      <p:sp>
        <p:nvSpPr>
          <p:cNvPr id="3" name="TextBox 2">
            <a:extLst>
              <a:ext uri="{FF2B5EF4-FFF2-40B4-BE49-F238E27FC236}">
                <a16:creationId xmlns:a16="http://schemas.microsoft.com/office/drawing/2014/main" id="{EC2E037E-9D17-BA45-AD07-C916B2261ED1}"/>
              </a:ext>
            </a:extLst>
          </p:cNvPr>
          <p:cNvSpPr txBox="1"/>
          <p:nvPr/>
        </p:nvSpPr>
        <p:spPr>
          <a:xfrm>
            <a:off x="988142" y="6169709"/>
            <a:ext cx="10515600" cy="369332"/>
          </a:xfrm>
          <a:prstGeom prst="rect">
            <a:avLst/>
          </a:prstGeom>
          <a:noFill/>
        </p:spPr>
        <p:txBody>
          <a:bodyPr wrap="square" rtlCol="0">
            <a:spAutoFit/>
          </a:bodyPr>
          <a:lstStyle/>
          <a:p>
            <a:r>
              <a:rPr lang="en-US" dirty="0"/>
              <a:t>Insight: Most ratings are concentrated between 3.5 and 4.8, while a few low-rating outliers exist.</a:t>
            </a:r>
            <a:endParaRPr lang="en-IN" dirty="0"/>
          </a:p>
        </p:txBody>
      </p:sp>
    </p:spTree>
    <p:extLst>
      <p:ext uri="{BB962C8B-B14F-4D97-AF65-F5344CB8AC3E}">
        <p14:creationId xmlns:p14="http://schemas.microsoft.com/office/powerpoint/2010/main" val="38656373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BBBB6-7396-7C3D-7F6D-B54C9C65BBF4}"/>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Bivariate Analysis</a:t>
            </a:r>
          </a:p>
        </p:txBody>
      </p:sp>
      <p:sp>
        <p:nvSpPr>
          <p:cNvPr id="3" name="Content Placeholder 2">
            <a:extLst>
              <a:ext uri="{FF2B5EF4-FFF2-40B4-BE49-F238E27FC236}">
                <a16:creationId xmlns:a16="http://schemas.microsoft.com/office/drawing/2014/main" id="{98EF22C7-0087-D2BA-D5BF-867C014D89B5}"/>
              </a:ext>
            </a:extLst>
          </p:cNvPr>
          <p:cNvSpPr>
            <a:spLocks noGrp="1"/>
          </p:cNvSpPr>
          <p:nvPr>
            <p:ph idx="1"/>
          </p:nvPr>
        </p:nvSpPr>
        <p:spPr>
          <a:xfrm>
            <a:off x="838200" y="1445341"/>
            <a:ext cx="8590935" cy="5047533"/>
          </a:xfrm>
        </p:spPr>
        <p:txBody>
          <a:bodyPr/>
          <a:lstStyle/>
          <a:p>
            <a:pPr marL="0" indent="0">
              <a:buNone/>
            </a:pPr>
            <a:r>
              <a:rPr lang="en-US" sz="1600" b="1" dirty="0"/>
              <a:t>Bivariate analysis studies the relationship between two variables</a:t>
            </a:r>
            <a:r>
              <a:rPr lang="en-US" sz="1600" dirty="0"/>
              <a:t> to understand how one influences the other.</a:t>
            </a:r>
          </a:p>
          <a:p>
            <a:r>
              <a:rPr lang="en-US" dirty="0"/>
              <a:t>Does customer satisfaction vary by brand?</a:t>
            </a:r>
            <a:endParaRPr lang="en-IN" dirty="0"/>
          </a:p>
        </p:txBody>
      </p:sp>
      <p:pic>
        <p:nvPicPr>
          <p:cNvPr id="5" name="Picture 4">
            <a:extLst>
              <a:ext uri="{FF2B5EF4-FFF2-40B4-BE49-F238E27FC236}">
                <a16:creationId xmlns:a16="http://schemas.microsoft.com/office/drawing/2014/main" id="{7CF6C679-243C-CB97-F198-6FBA815FD1D0}"/>
              </a:ext>
            </a:extLst>
          </p:cNvPr>
          <p:cNvPicPr>
            <a:picLocks noChangeAspect="1"/>
          </p:cNvPicPr>
          <p:nvPr/>
        </p:nvPicPr>
        <p:blipFill>
          <a:blip r:embed="rId2"/>
          <a:stretch>
            <a:fillRect/>
          </a:stretch>
        </p:blipFill>
        <p:spPr>
          <a:xfrm>
            <a:off x="2026674" y="2507225"/>
            <a:ext cx="5711314" cy="3326462"/>
          </a:xfrm>
          <a:prstGeom prst="rect">
            <a:avLst/>
          </a:prstGeom>
        </p:spPr>
      </p:pic>
      <p:sp>
        <p:nvSpPr>
          <p:cNvPr id="8" name="TextBox 7">
            <a:extLst>
              <a:ext uri="{FF2B5EF4-FFF2-40B4-BE49-F238E27FC236}">
                <a16:creationId xmlns:a16="http://schemas.microsoft.com/office/drawing/2014/main" id="{A6F1796C-3A0F-4D7F-6BB3-763BCA11FFFE}"/>
              </a:ext>
            </a:extLst>
          </p:cNvPr>
          <p:cNvSpPr txBox="1"/>
          <p:nvPr/>
        </p:nvSpPr>
        <p:spPr>
          <a:xfrm>
            <a:off x="363794" y="5860026"/>
            <a:ext cx="12349315" cy="369332"/>
          </a:xfrm>
          <a:prstGeom prst="rect">
            <a:avLst/>
          </a:prstGeom>
          <a:noFill/>
        </p:spPr>
        <p:txBody>
          <a:bodyPr wrap="square" rtlCol="0">
            <a:spAutoFit/>
          </a:bodyPr>
          <a:lstStyle/>
          <a:p>
            <a:r>
              <a:rPr lang="en-US" dirty="0"/>
              <a:t>Insight: Some brands show consistently higher customer satisfaction, while others have wider rating variation.</a:t>
            </a:r>
            <a:endParaRPr lang="en-IN" dirty="0"/>
          </a:p>
        </p:txBody>
      </p:sp>
    </p:spTree>
    <p:extLst>
      <p:ext uri="{BB962C8B-B14F-4D97-AF65-F5344CB8AC3E}">
        <p14:creationId xmlns:p14="http://schemas.microsoft.com/office/powerpoint/2010/main" val="147579975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E4C3-1649-B854-11C9-266CC65E0A6B}"/>
              </a:ext>
            </a:extLst>
          </p:cNvPr>
          <p:cNvSpPr>
            <a:spLocks noGrp="1"/>
          </p:cNvSpPr>
          <p:nvPr>
            <p:ph type="title"/>
          </p:nvPr>
        </p:nvSpPr>
        <p:spPr/>
        <p:txBody>
          <a:bodyPr/>
          <a:lstStyle/>
          <a:p>
            <a:r>
              <a:rPr lang="en-US" dirty="0"/>
              <a:t>How do discounts influence the final selling price?</a:t>
            </a:r>
            <a:endParaRPr lang="en-IN" dirty="0"/>
          </a:p>
        </p:txBody>
      </p:sp>
      <p:pic>
        <p:nvPicPr>
          <p:cNvPr id="4" name="Picture 3">
            <a:extLst>
              <a:ext uri="{FF2B5EF4-FFF2-40B4-BE49-F238E27FC236}">
                <a16:creationId xmlns:a16="http://schemas.microsoft.com/office/drawing/2014/main" id="{8660F75C-9295-8613-6401-32A138C75225}"/>
              </a:ext>
            </a:extLst>
          </p:cNvPr>
          <p:cNvPicPr>
            <a:picLocks noChangeAspect="1"/>
          </p:cNvPicPr>
          <p:nvPr/>
        </p:nvPicPr>
        <p:blipFill>
          <a:blip r:embed="rId2"/>
          <a:stretch>
            <a:fillRect/>
          </a:stretch>
        </p:blipFill>
        <p:spPr>
          <a:xfrm>
            <a:off x="2533153" y="1396182"/>
            <a:ext cx="6748499" cy="4506908"/>
          </a:xfrm>
          <a:prstGeom prst="rect">
            <a:avLst/>
          </a:prstGeom>
        </p:spPr>
      </p:pic>
      <p:sp>
        <p:nvSpPr>
          <p:cNvPr id="3" name="TextBox 2">
            <a:extLst>
              <a:ext uri="{FF2B5EF4-FFF2-40B4-BE49-F238E27FC236}">
                <a16:creationId xmlns:a16="http://schemas.microsoft.com/office/drawing/2014/main" id="{E39783E6-353B-37AA-79AC-7DC008834338}"/>
              </a:ext>
            </a:extLst>
          </p:cNvPr>
          <p:cNvSpPr txBox="1"/>
          <p:nvPr/>
        </p:nvSpPr>
        <p:spPr>
          <a:xfrm>
            <a:off x="422787" y="5938684"/>
            <a:ext cx="11769213" cy="369332"/>
          </a:xfrm>
          <a:prstGeom prst="rect">
            <a:avLst/>
          </a:prstGeom>
          <a:noFill/>
        </p:spPr>
        <p:txBody>
          <a:bodyPr wrap="square" rtlCol="0">
            <a:spAutoFit/>
          </a:bodyPr>
          <a:lstStyle/>
          <a:p>
            <a:r>
              <a:rPr lang="en-US" dirty="0"/>
              <a:t>Insight: Higher discounts are generally associated with lower selling prices, highlighting aggressive pricing strategies.</a:t>
            </a:r>
            <a:endParaRPr lang="en-IN" dirty="0"/>
          </a:p>
        </p:txBody>
      </p:sp>
    </p:spTree>
    <p:extLst>
      <p:ext uri="{BB962C8B-B14F-4D97-AF65-F5344CB8AC3E}">
        <p14:creationId xmlns:p14="http://schemas.microsoft.com/office/powerpoint/2010/main" val="319914086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BA93C-7BE1-A622-181A-E47DCD5B8D5F}"/>
              </a:ext>
            </a:extLst>
          </p:cNvPr>
          <p:cNvSpPr>
            <a:spLocks noGrp="1"/>
          </p:cNvSpPr>
          <p:nvPr>
            <p:ph type="title"/>
          </p:nvPr>
        </p:nvSpPr>
        <p:spPr/>
        <p:txBody>
          <a:bodyPr/>
          <a:lstStyle/>
          <a:p>
            <a:r>
              <a:rPr lang="en-US" dirty="0"/>
              <a:t>Does Bluetooth version affect the selling price?</a:t>
            </a:r>
            <a:endParaRPr lang="en-IN" dirty="0"/>
          </a:p>
        </p:txBody>
      </p:sp>
      <p:pic>
        <p:nvPicPr>
          <p:cNvPr id="4" name="Picture 3">
            <a:extLst>
              <a:ext uri="{FF2B5EF4-FFF2-40B4-BE49-F238E27FC236}">
                <a16:creationId xmlns:a16="http://schemas.microsoft.com/office/drawing/2014/main" id="{494118B3-C414-A303-B485-B56FF8016A83}"/>
              </a:ext>
            </a:extLst>
          </p:cNvPr>
          <p:cNvPicPr>
            <a:picLocks noChangeAspect="1"/>
          </p:cNvPicPr>
          <p:nvPr/>
        </p:nvPicPr>
        <p:blipFill>
          <a:blip r:embed="rId2"/>
          <a:stretch>
            <a:fillRect/>
          </a:stretch>
        </p:blipFill>
        <p:spPr>
          <a:xfrm>
            <a:off x="2261419" y="1690688"/>
            <a:ext cx="7294342" cy="4524763"/>
          </a:xfrm>
          <a:prstGeom prst="rect">
            <a:avLst/>
          </a:prstGeom>
        </p:spPr>
      </p:pic>
      <p:sp>
        <p:nvSpPr>
          <p:cNvPr id="3" name="TextBox 2">
            <a:extLst>
              <a:ext uri="{FF2B5EF4-FFF2-40B4-BE49-F238E27FC236}">
                <a16:creationId xmlns:a16="http://schemas.microsoft.com/office/drawing/2014/main" id="{185A7675-E29A-6E8F-DF1F-88BE96363444}"/>
              </a:ext>
            </a:extLst>
          </p:cNvPr>
          <p:cNvSpPr txBox="1"/>
          <p:nvPr/>
        </p:nvSpPr>
        <p:spPr>
          <a:xfrm>
            <a:off x="255639" y="6123543"/>
            <a:ext cx="12182168" cy="369332"/>
          </a:xfrm>
          <a:prstGeom prst="rect">
            <a:avLst/>
          </a:prstGeom>
          <a:noFill/>
        </p:spPr>
        <p:txBody>
          <a:bodyPr wrap="square" rtlCol="0">
            <a:spAutoFit/>
          </a:bodyPr>
          <a:lstStyle/>
          <a:p>
            <a:r>
              <a:rPr lang="en-US" dirty="0"/>
              <a:t>Insight: Newer Bluetooth versions tend to have slightly higher average prices, reflecting added features and technology.</a:t>
            </a:r>
            <a:endParaRPr lang="en-IN" dirty="0"/>
          </a:p>
        </p:txBody>
      </p:sp>
    </p:spTree>
    <p:extLst>
      <p:ext uri="{BB962C8B-B14F-4D97-AF65-F5344CB8AC3E}">
        <p14:creationId xmlns:p14="http://schemas.microsoft.com/office/powerpoint/2010/main" val="41766629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3C1D1-097C-8600-6279-5D8A77251547}"/>
              </a:ext>
            </a:extLst>
          </p:cNvPr>
          <p:cNvSpPr>
            <a:spLocks noGrp="1"/>
          </p:cNvSpPr>
          <p:nvPr>
            <p:ph type="title"/>
          </p:nvPr>
        </p:nvSpPr>
        <p:spPr/>
        <p:txBody>
          <a:bodyPr/>
          <a:lstStyle/>
          <a:p>
            <a:r>
              <a:rPr lang="en-US" dirty="0"/>
              <a:t>Do brands rely on different discounting strategies?</a:t>
            </a:r>
            <a:endParaRPr lang="en-IN" dirty="0"/>
          </a:p>
        </p:txBody>
      </p:sp>
      <p:sp>
        <p:nvSpPr>
          <p:cNvPr id="5" name="TextBox 4">
            <a:extLst>
              <a:ext uri="{FF2B5EF4-FFF2-40B4-BE49-F238E27FC236}">
                <a16:creationId xmlns:a16="http://schemas.microsoft.com/office/drawing/2014/main" id="{A0D7CE5C-FE69-0E74-B3C3-672F250DCCA0}"/>
              </a:ext>
            </a:extLst>
          </p:cNvPr>
          <p:cNvSpPr txBox="1"/>
          <p:nvPr/>
        </p:nvSpPr>
        <p:spPr>
          <a:xfrm>
            <a:off x="973394" y="1789471"/>
            <a:ext cx="10515600" cy="4404852"/>
          </a:xfrm>
          <a:prstGeom prst="rect">
            <a:avLst/>
          </a:prstGeom>
          <a:noFill/>
        </p:spPr>
        <p:txBody>
          <a:bodyPr wrap="square" rtlCol="0">
            <a:spAutoFit/>
          </a:bodyPr>
          <a:lstStyle/>
          <a:p>
            <a:endParaRPr lang="en-IN" dirty="0"/>
          </a:p>
        </p:txBody>
      </p:sp>
      <p:pic>
        <p:nvPicPr>
          <p:cNvPr id="7" name="Picture 6">
            <a:extLst>
              <a:ext uri="{FF2B5EF4-FFF2-40B4-BE49-F238E27FC236}">
                <a16:creationId xmlns:a16="http://schemas.microsoft.com/office/drawing/2014/main" id="{24745F13-5EA6-585B-7249-9A1D18C1E004}"/>
              </a:ext>
            </a:extLst>
          </p:cNvPr>
          <p:cNvPicPr>
            <a:picLocks noChangeAspect="1"/>
          </p:cNvPicPr>
          <p:nvPr/>
        </p:nvPicPr>
        <p:blipFill>
          <a:blip r:embed="rId2"/>
          <a:stretch>
            <a:fillRect/>
          </a:stretch>
        </p:blipFill>
        <p:spPr>
          <a:xfrm>
            <a:off x="2237836" y="1690688"/>
            <a:ext cx="7716327" cy="4169338"/>
          </a:xfrm>
          <a:prstGeom prst="rect">
            <a:avLst/>
          </a:prstGeom>
        </p:spPr>
      </p:pic>
      <p:sp>
        <p:nvSpPr>
          <p:cNvPr id="3" name="TextBox 2">
            <a:extLst>
              <a:ext uri="{FF2B5EF4-FFF2-40B4-BE49-F238E27FC236}">
                <a16:creationId xmlns:a16="http://schemas.microsoft.com/office/drawing/2014/main" id="{2F6B7855-25BC-0940-ECCD-F8736F655C3E}"/>
              </a:ext>
            </a:extLst>
          </p:cNvPr>
          <p:cNvSpPr txBox="1"/>
          <p:nvPr/>
        </p:nvSpPr>
        <p:spPr>
          <a:xfrm>
            <a:off x="393290" y="6125497"/>
            <a:ext cx="11710220" cy="369332"/>
          </a:xfrm>
          <a:prstGeom prst="rect">
            <a:avLst/>
          </a:prstGeom>
          <a:noFill/>
        </p:spPr>
        <p:txBody>
          <a:bodyPr wrap="square" rtlCol="0">
            <a:spAutoFit/>
          </a:bodyPr>
          <a:lstStyle/>
          <a:p>
            <a:r>
              <a:rPr lang="en-US" dirty="0"/>
              <a:t>Insight: Some brands rely heavily on high discounts, while others maintain stable pricing with fewer aggressive offers.</a:t>
            </a:r>
            <a:endParaRPr lang="en-IN" dirty="0"/>
          </a:p>
        </p:txBody>
      </p:sp>
    </p:spTree>
    <p:extLst>
      <p:ext uri="{BB962C8B-B14F-4D97-AF65-F5344CB8AC3E}">
        <p14:creationId xmlns:p14="http://schemas.microsoft.com/office/powerpoint/2010/main" val="244535174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7ECAE-7019-5CB4-C6B5-302D1B1D9F55}"/>
              </a:ext>
            </a:extLst>
          </p:cNvPr>
          <p:cNvSpPr>
            <a:spLocks noGrp="1"/>
          </p:cNvSpPr>
          <p:nvPr>
            <p:ph type="title"/>
          </p:nvPr>
        </p:nvSpPr>
        <p:spPr/>
        <p:txBody>
          <a:bodyPr/>
          <a:lstStyle/>
          <a:p>
            <a:r>
              <a:rPr lang="en-IN" dirty="0">
                <a:solidFill>
                  <a:srgbClr val="FF0000"/>
                </a:solidFill>
                <a:latin typeface="Times New Roman" panose="02020603050405020304" pitchFamily="18" charset="0"/>
                <a:cs typeface="Times New Roman" panose="02020603050405020304" pitchFamily="18" charset="0"/>
              </a:rPr>
              <a:t>DASHBOARD OVERVIEW</a:t>
            </a:r>
          </a:p>
        </p:txBody>
      </p:sp>
      <p:pic>
        <p:nvPicPr>
          <p:cNvPr id="5" name="Picture 4">
            <a:extLst>
              <a:ext uri="{FF2B5EF4-FFF2-40B4-BE49-F238E27FC236}">
                <a16:creationId xmlns:a16="http://schemas.microsoft.com/office/drawing/2014/main" id="{559C1A09-C965-C340-8448-31F3E568CA0E}"/>
              </a:ext>
            </a:extLst>
          </p:cNvPr>
          <p:cNvPicPr>
            <a:picLocks noChangeAspect="1"/>
          </p:cNvPicPr>
          <p:nvPr/>
        </p:nvPicPr>
        <p:blipFill>
          <a:blip r:embed="rId2"/>
          <a:stretch>
            <a:fillRect/>
          </a:stretch>
        </p:blipFill>
        <p:spPr>
          <a:xfrm>
            <a:off x="887361" y="1440444"/>
            <a:ext cx="7449590" cy="4134427"/>
          </a:xfrm>
          <a:prstGeom prst="rect">
            <a:avLst/>
          </a:prstGeom>
        </p:spPr>
      </p:pic>
    </p:spTree>
    <p:extLst>
      <p:ext uri="{BB962C8B-B14F-4D97-AF65-F5344CB8AC3E}">
        <p14:creationId xmlns:p14="http://schemas.microsoft.com/office/powerpoint/2010/main" val="204578602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89BE3-22EA-672E-2996-06FC6687A628}"/>
              </a:ext>
            </a:extLst>
          </p:cNvPr>
          <p:cNvSpPr>
            <a:spLocks noGrp="1"/>
          </p:cNvSpPr>
          <p:nvPr>
            <p:ph type="title"/>
          </p:nvPr>
        </p:nvSpPr>
        <p:spPr>
          <a:xfrm>
            <a:off x="838200" y="365125"/>
            <a:ext cx="10970342" cy="1203743"/>
          </a:xfrm>
        </p:spPr>
        <p:txBody>
          <a:bodyPr/>
          <a:lstStyle/>
          <a:p>
            <a:r>
              <a:rPr lang="en-US" b="1" dirty="0">
                <a:solidFill>
                  <a:srgbClr val="FF0000"/>
                </a:solidFill>
                <a:latin typeface="Times New Roman" panose="02020603050405020304" pitchFamily="18" charset="0"/>
                <a:cs typeface="Times New Roman" panose="02020603050405020304" pitchFamily="18" charset="0"/>
              </a:rPr>
              <a:t>Hypothesis Test 1: Discount vs Selling Price</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28E265C-36BC-5C6D-2F9D-ECE347D34D19}"/>
              </a:ext>
            </a:extLst>
          </p:cNvPr>
          <p:cNvSpPr txBox="1"/>
          <p:nvPr/>
        </p:nvSpPr>
        <p:spPr>
          <a:xfrm>
            <a:off x="838200" y="1568868"/>
            <a:ext cx="10970342" cy="3416320"/>
          </a:xfrm>
          <a:prstGeom prst="rect">
            <a:avLst/>
          </a:prstGeom>
          <a:noFill/>
        </p:spPr>
        <p:txBody>
          <a:bodyPr wrap="square" rtlCol="0">
            <a:spAutoFit/>
          </a:bodyPr>
          <a:lstStyle/>
          <a:p>
            <a:r>
              <a:rPr lang="en-US" dirty="0"/>
              <a:t>Do higher discounts lead to lower selling prices?</a:t>
            </a:r>
          </a:p>
          <a:p>
            <a:endParaRPr lang="en-US" dirty="0"/>
          </a:p>
          <a:p>
            <a:r>
              <a:rPr lang="en-IN" b="1" dirty="0"/>
              <a:t>Hypotheses</a:t>
            </a:r>
          </a:p>
          <a:p>
            <a:r>
              <a:rPr lang="en-US" b="1" dirty="0"/>
              <a:t>H₀:</a:t>
            </a:r>
            <a:r>
              <a:rPr lang="en-US" dirty="0"/>
              <a:t> Selling price is the same for high and low discounts</a:t>
            </a:r>
          </a:p>
          <a:p>
            <a:r>
              <a:rPr lang="en-US" b="1" dirty="0"/>
              <a:t>H₁:</a:t>
            </a:r>
            <a:r>
              <a:rPr lang="en-US" dirty="0"/>
              <a:t> High-discount products have lower selling prices</a:t>
            </a:r>
          </a:p>
          <a:p>
            <a:endParaRPr lang="en-US" dirty="0"/>
          </a:p>
          <a:p>
            <a:r>
              <a:rPr lang="en-IN" b="1" dirty="0"/>
              <a:t>Test &amp; Result</a:t>
            </a:r>
          </a:p>
          <a:p>
            <a:r>
              <a:rPr lang="en-IN" b="1" dirty="0"/>
              <a:t>Test Used: </a:t>
            </a:r>
            <a:r>
              <a:rPr lang="en-IN" dirty="0"/>
              <a:t>Independent t-test</a:t>
            </a:r>
          </a:p>
          <a:p>
            <a:r>
              <a:rPr lang="en-US" b="1" dirty="0"/>
              <a:t>Result: </a:t>
            </a:r>
            <a:r>
              <a:rPr lang="en-US" dirty="0"/>
              <a:t>Statistically significant difference observed</a:t>
            </a:r>
          </a:p>
          <a:p>
            <a:endParaRPr lang="en-IN" b="1" dirty="0"/>
          </a:p>
          <a:p>
            <a:r>
              <a:rPr lang="en-IN" b="1" dirty="0"/>
              <a:t>Business Conclusion</a:t>
            </a:r>
          </a:p>
          <a:p>
            <a:r>
              <a:rPr lang="en-US" dirty="0"/>
              <a:t>Higher discounts significantly reduce selling prices.</a:t>
            </a:r>
            <a:endParaRPr lang="en-IN" b="1" dirty="0"/>
          </a:p>
        </p:txBody>
      </p:sp>
      <p:pic>
        <p:nvPicPr>
          <p:cNvPr id="5" name="Picture 4">
            <a:extLst>
              <a:ext uri="{FF2B5EF4-FFF2-40B4-BE49-F238E27FC236}">
                <a16:creationId xmlns:a16="http://schemas.microsoft.com/office/drawing/2014/main" id="{B79F3DF9-9A6D-4D0D-9275-A97B115CEEFD}"/>
              </a:ext>
            </a:extLst>
          </p:cNvPr>
          <p:cNvPicPr>
            <a:picLocks noChangeAspect="1"/>
          </p:cNvPicPr>
          <p:nvPr/>
        </p:nvPicPr>
        <p:blipFill>
          <a:blip r:embed="rId3"/>
          <a:stretch>
            <a:fillRect/>
          </a:stretch>
        </p:blipFill>
        <p:spPr>
          <a:xfrm>
            <a:off x="6323371" y="1494503"/>
            <a:ext cx="5239364" cy="4239605"/>
          </a:xfrm>
          <a:prstGeom prst="rect">
            <a:avLst/>
          </a:prstGeom>
        </p:spPr>
      </p:pic>
    </p:spTree>
    <p:extLst>
      <p:ext uri="{BB962C8B-B14F-4D97-AF65-F5344CB8AC3E}">
        <p14:creationId xmlns:p14="http://schemas.microsoft.com/office/powerpoint/2010/main" val="61818270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B1BB-9A97-CC81-0109-BBA7A43E3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122B9-7C27-E106-B8C9-5040F624DA31}"/>
              </a:ext>
            </a:extLst>
          </p:cNvPr>
          <p:cNvSpPr>
            <a:spLocks noGrp="1"/>
          </p:cNvSpPr>
          <p:nvPr>
            <p:ph type="title"/>
          </p:nvPr>
        </p:nvSpPr>
        <p:spPr>
          <a:xfrm>
            <a:off x="838200" y="265472"/>
            <a:ext cx="10842523" cy="122903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Hypothesis Test 2 : </a:t>
            </a:r>
            <a:r>
              <a:rPr lang="en-IN" sz="3600" b="1" dirty="0">
                <a:solidFill>
                  <a:srgbClr val="FF0000"/>
                </a:solidFill>
                <a:latin typeface="Times New Roman" panose="02020603050405020304" pitchFamily="18" charset="0"/>
                <a:cs typeface="Times New Roman" panose="02020603050405020304" pitchFamily="18" charset="0"/>
              </a:rPr>
              <a:t>Premium vs Budget Brand Ratings</a:t>
            </a:r>
          </a:p>
        </p:txBody>
      </p:sp>
      <p:sp>
        <p:nvSpPr>
          <p:cNvPr id="3" name="TextBox 2">
            <a:extLst>
              <a:ext uri="{FF2B5EF4-FFF2-40B4-BE49-F238E27FC236}">
                <a16:creationId xmlns:a16="http://schemas.microsoft.com/office/drawing/2014/main" id="{B4BF4218-14D9-7901-231B-CF6845D8465C}"/>
              </a:ext>
            </a:extLst>
          </p:cNvPr>
          <p:cNvSpPr txBox="1"/>
          <p:nvPr/>
        </p:nvSpPr>
        <p:spPr>
          <a:xfrm>
            <a:off x="838200" y="1568868"/>
            <a:ext cx="6103374" cy="3662541"/>
          </a:xfrm>
          <a:prstGeom prst="rect">
            <a:avLst/>
          </a:prstGeom>
          <a:noFill/>
        </p:spPr>
        <p:txBody>
          <a:bodyPr wrap="square" rtlCol="0">
            <a:spAutoFit/>
          </a:bodyPr>
          <a:lstStyle/>
          <a:p>
            <a:r>
              <a:rPr lang="en-US" sz="1600" dirty="0"/>
              <a:t>Do premium brands receive better customer ratings than budget brands</a:t>
            </a:r>
            <a:r>
              <a:rPr lang="en-US" dirty="0"/>
              <a:t>?</a:t>
            </a:r>
          </a:p>
          <a:p>
            <a:r>
              <a:rPr lang="en-IN" b="1" dirty="0"/>
              <a:t>Hypotheses</a:t>
            </a:r>
          </a:p>
          <a:p>
            <a:r>
              <a:rPr lang="en-US" b="1" dirty="0"/>
              <a:t>H₀:</a:t>
            </a:r>
            <a:r>
              <a:rPr lang="en-US" dirty="0"/>
              <a:t> No difference in ratings between premium and budget brands</a:t>
            </a:r>
          </a:p>
          <a:p>
            <a:r>
              <a:rPr lang="en-US" b="1" dirty="0"/>
              <a:t>H₁: </a:t>
            </a:r>
            <a:r>
              <a:rPr lang="en-US" dirty="0"/>
              <a:t>Premium brands have higher ratings</a:t>
            </a:r>
          </a:p>
          <a:p>
            <a:endParaRPr lang="en-US" dirty="0"/>
          </a:p>
          <a:p>
            <a:r>
              <a:rPr lang="en-IN" b="1" dirty="0"/>
              <a:t>Test &amp; Result</a:t>
            </a:r>
          </a:p>
          <a:p>
            <a:r>
              <a:rPr lang="en-IN" b="1" dirty="0"/>
              <a:t>Test Used: </a:t>
            </a:r>
            <a:r>
              <a:rPr lang="en-IN" dirty="0"/>
              <a:t>Independent t-test</a:t>
            </a:r>
          </a:p>
          <a:p>
            <a:r>
              <a:rPr lang="en-US" b="1" dirty="0"/>
              <a:t>Result: </a:t>
            </a:r>
            <a:r>
              <a:rPr lang="en-IN" dirty="0"/>
              <a:t>Statistically significant difference found</a:t>
            </a:r>
            <a:endParaRPr lang="en-US" dirty="0"/>
          </a:p>
          <a:p>
            <a:endParaRPr lang="en-IN" b="1" dirty="0"/>
          </a:p>
          <a:p>
            <a:r>
              <a:rPr lang="en-IN" b="1" dirty="0"/>
              <a:t>Business Conclusion</a:t>
            </a:r>
          </a:p>
          <a:p>
            <a:r>
              <a:rPr lang="en-US" dirty="0"/>
              <a:t>Premium brands tend to receive higher customer ratings.</a:t>
            </a:r>
            <a:endParaRPr lang="en-IN" b="1" dirty="0"/>
          </a:p>
        </p:txBody>
      </p:sp>
      <p:pic>
        <p:nvPicPr>
          <p:cNvPr id="7" name="Picture 6">
            <a:extLst>
              <a:ext uri="{FF2B5EF4-FFF2-40B4-BE49-F238E27FC236}">
                <a16:creationId xmlns:a16="http://schemas.microsoft.com/office/drawing/2014/main" id="{E383A3FE-7A44-B223-741E-A0DA75ED1291}"/>
              </a:ext>
            </a:extLst>
          </p:cNvPr>
          <p:cNvPicPr>
            <a:picLocks noChangeAspect="1"/>
          </p:cNvPicPr>
          <p:nvPr/>
        </p:nvPicPr>
        <p:blipFill>
          <a:blip r:embed="rId3"/>
          <a:stretch>
            <a:fillRect/>
          </a:stretch>
        </p:blipFill>
        <p:spPr>
          <a:xfrm>
            <a:off x="6872748" y="1494504"/>
            <a:ext cx="4620489" cy="3599531"/>
          </a:xfrm>
          <a:prstGeom prst="rect">
            <a:avLst/>
          </a:prstGeom>
        </p:spPr>
      </p:pic>
    </p:spTree>
    <p:extLst>
      <p:ext uri="{BB962C8B-B14F-4D97-AF65-F5344CB8AC3E}">
        <p14:creationId xmlns:p14="http://schemas.microsoft.com/office/powerpoint/2010/main" val="118488444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053A-ED5B-5F34-2A61-970A2D513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58752-25FE-4939-30FF-D472525D296C}"/>
              </a:ext>
            </a:extLst>
          </p:cNvPr>
          <p:cNvSpPr>
            <a:spLocks noGrp="1"/>
          </p:cNvSpPr>
          <p:nvPr>
            <p:ph type="title"/>
          </p:nvPr>
        </p:nvSpPr>
        <p:spPr>
          <a:xfrm>
            <a:off x="838199" y="265472"/>
            <a:ext cx="10842523" cy="122903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Hypothesis Test 3 : Bluetooth Version vs Selling Price</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3DF68BC-2ED9-9662-F4B8-FFDF78303E29}"/>
              </a:ext>
            </a:extLst>
          </p:cNvPr>
          <p:cNvSpPr txBox="1"/>
          <p:nvPr/>
        </p:nvSpPr>
        <p:spPr>
          <a:xfrm>
            <a:off x="838200" y="1568868"/>
            <a:ext cx="5857240" cy="3139321"/>
          </a:xfrm>
          <a:prstGeom prst="rect">
            <a:avLst/>
          </a:prstGeom>
          <a:noFill/>
        </p:spPr>
        <p:txBody>
          <a:bodyPr wrap="square" rtlCol="0">
            <a:spAutoFit/>
          </a:bodyPr>
          <a:lstStyle/>
          <a:p>
            <a:r>
              <a:rPr lang="en-US" dirty="0"/>
              <a:t>Is selling price different across Bluetooth versions?</a:t>
            </a:r>
            <a:endParaRPr lang="en-IN" b="1" dirty="0"/>
          </a:p>
          <a:p>
            <a:r>
              <a:rPr lang="en-IN" b="1" dirty="0"/>
              <a:t>Hypotheses</a:t>
            </a:r>
          </a:p>
          <a:p>
            <a:r>
              <a:rPr lang="en-US" b="1" dirty="0"/>
              <a:t>H₀:</a:t>
            </a:r>
            <a:r>
              <a:rPr lang="en-US" dirty="0"/>
              <a:t> Selling price is the same across all Bluetooth versions</a:t>
            </a:r>
          </a:p>
          <a:p>
            <a:r>
              <a:rPr lang="en-US" b="1" dirty="0"/>
              <a:t>H₁: </a:t>
            </a:r>
            <a:r>
              <a:rPr lang="en-US" dirty="0"/>
              <a:t>At least one Bluetooth version differs in price</a:t>
            </a:r>
            <a:endParaRPr lang="en-US" b="1" dirty="0"/>
          </a:p>
          <a:p>
            <a:r>
              <a:rPr lang="en-IN" b="1" dirty="0"/>
              <a:t>Test &amp; Result</a:t>
            </a:r>
          </a:p>
          <a:p>
            <a:r>
              <a:rPr lang="en-IN" b="1" dirty="0"/>
              <a:t>Test Used: </a:t>
            </a:r>
            <a:r>
              <a:rPr lang="en-IN" dirty="0"/>
              <a:t>One-way ANOVA</a:t>
            </a:r>
          </a:p>
          <a:p>
            <a:r>
              <a:rPr lang="en-US" b="1" dirty="0"/>
              <a:t>Result: </a:t>
            </a:r>
            <a:r>
              <a:rPr lang="en-IN" dirty="0"/>
              <a:t>Significant price variation observed</a:t>
            </a:r>
            <a:endParaRPr lang="en-US" dirty="0"/>
          </a:p>
          <a:p>
            <a:endParaRPr lang="en-IN" b="1" dirty="0"/>
          </a:p>
          <a:p>
            <a:r>
              <a:rPr lang="en-IN" b="1" dirty="0"/>
              <a:t>Business Conclusion</a:t>
            </a:r>
          </a:p>
          <a:p>
            <a:r>
              <a:rPr lang="en-US" dirty="0"/>
              <a:t>Bluetooth version influences product pricing.</a:t>
            </a:r>
          </a:p>
          <a:p>
            <a:endParaRPr lang="en-IN" b="1" dirty="0"/>
          </a:p>
        </p:txBody>
      </p:sp>
      <p:pic>
        <p:nvPicPr>
          <p:cNvPr id="5" name="Picture 4">
            <a:extLst>
              <a:ext uri="{FF2B5EF4-FFF2-40B4-BE49-F238E27FC236}">
                <a16:creationId xmlns:a16="http://schemas.microsoft.com/office/drawing/2014/main" id="{8755D88F-CE9C-19FF-32EC-207835447907}"/>
              </a:ext>
            </a:extLst>
          </p:cNvPr>
          <p:cNvPicPr>
            <a:picLocks noChangeAspect="1"/>
          </p:cNvPicPr>
          <p:nvPr/>
        </p:nvPicPr>
        <p:blipFill>
          <a:blip r:embed="rId3"/>
          <a:stretch>
            <a:fillRect/>
          </a:stretch>
        </p:blipFill>
        <p:spPr>
          <a:xfrm>
            <a:off x="6888480" y="1326115"/>
            <a:ext cx="4864652" cy="3561698"/>
          </a:xfrm>
          <a:prstGeom prst="rect">
            <a:avLst/>
          </a:prstGeom>
        </p:spPr>
      </p:pic>
    </p:spTree>
    <p:extLst>
      <p:ext uri="{BB962C8B-B14F-4D97-AF65-F5344CB8AC3E}">
        <p14:creationId xmlns:p14="http://schemas.microsoft.com/office/powerpoint/2010/main" val="387355071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7F229-008D-C928-3A90-F70749E95F70}"/>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Conclusions(key findings)</a:t>
            </a:r>
          </a:p>
        </p:txBody>
      </p:sp>
      <p:sp>
        <p:nvSpPr>
          <p:cNvPr id="3" name="Content Placeholder 2">
            <a:extLst>
              <a:ext uri="{FF2B5EF4-FFF2-40B4-BE49-F238E27FC236}">
                <a16:creationId xmlns:a16="http://schemas.microsoft.com/office/drawing/2014/main" id="{F3FD7F3E-C91F-1CD4-76D4-28FC0ADC4E5D}"/>
              </a:ext>
            </a:extLst>
          </p:cNvPr>
          <p:cNvSpPr>
            <a:spLocks noGrp="1"/>
          </p:cNvSpPr>
          <p:nvPr>
            <p:ph idx="1"/>
          </p:nvPr>
        </p:nvSpPr>
        <p:spPr>
          <a:xfrm>
            <a:off x="700549" y="1690688"/>
            <a:ext cx="10515600" cy="4351338"/>
          </a:xfrm>
        </p:spPr>
        <p:txBody>
          <a:bodyPr>
            <a:normAutofit fontScale="85000" lnSpcReduction="20000"/>
          </a:bodyPr>
          <a:lstStyle/>
          <a:p>
            <a:r>
              <a:rPr lang="en-US" dirty="0"/>
              <a:t>The wireless earbuds market is </a:t>
            </a:r>
            <a:r>
              <a:rPr lang="en-US" b="1" dirty="0"/>
              <a:t>highly competitive</a:t>
            </a:r>
            <a:r>
              <a:rPr lang="en-US" dirty="0"/>
              <a:t>, with no single brand dominating.</a:t>
            </a:r>
          </a:p>
          <a:p>
            <a:r>
              <a:rPr lang="en-US" b="1" dirty="0"/>
              <a:t>Bluetooth 5.x versions are widely adopted</a:t>
            </a:r>
            <a:r>
              <a:rPr lang="en-US" dirty="0"/>
              <a:t>, showing fast technology standardization.</a:t>
            </a:r>
          </a:p>
          <a:p>
            <a:r>
              <a:rPr lang="en-US" dirty="0"/>
              <a:t>Most products fall in the </a:t>
            </a:r>
            <a:r>
              <a:rPr lang="en-US" b="1" dirty="0"/>
              <a:t>budget to mid-range price segment</a:t>
            </a:r>
            <a:r>
              <a:rPr lang="en-US" dirty="0"/>
              <a:t>, indicating price-sensitive demand.</a:t>
            </a:r>
          </a:p>
          <a:p>
            <a:r>
              <a:rPr lang="en-US" dirty="0"/>
              <a:t>Customer ratings are generally </a:t>
            </a:r>
            <a:r>
              <a:rPr lang="en-US" b="1" dirty="0"/>
              <a:t>high and consistent</a:t>
            </a:r>
            <a:r>
              <a:rPr lang="en-US" dirty="0"/>
              <a:t>, reflecting overall good satisfaction.</a:t>
            </a:r>
          </a:p>
          <a:p>
            <a:r>
              <a:rPr lang="en-US" dirty="0"/>
              <a:t>A few low-rating outliers suggest </a:t>
            </a:r>
            <a:r>
              <a:rPr lang="en-US" b="1" dirty="0"/>
              <a:t>quality gaps in certain products</a:t>
            </a:r>
            <a:r>
              <a:rPr lang="en-US" dirty="0"/>
              <a:t>.</a:t>
            </a:r>
          </a:p>
          <a:p>
            <a:r>
              <a:rPr lang="en-US" b="1" dirty="0"/>
              <a:t>Higher discounts lead to lower selling prices</a:t>
            </a:r>
            <a:r>
              <a:rPr lang="en-US" dirty="0"/>
              <a:t>, confirming discount-driven sales strategies.</a:t>
            </a:r>
          </a:p>
          <a:p>
            <a:r>
              <a:rPr lang="en-US" b="1" dirty="0"/>
              <a:t>Newer features support higher pricing</a:t>
            </a:r>
            <a:r>
              <a:rPr lang="en-US" dirty="0"/>
              <a:t>, reducing dependence on heavy discounts.</a:t>
            </a:r>
          </a:p>
          <a:p>
            <a:endParaRPr lang="en-IN" dirty="0"/>
          </a:p>
        </p:txBody>
      </p:sp>
    </p:spTree>
    <p:extLst>
      <p:ext uri="{BB962C8B-B14F-4D97-AF65-F5344CB8AC3E}">
        <p14:creationId xmlns:p14="http://schemas.microsoft.com/office/powerpoint/2010/main" val="364066794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8C0-415A-FE11-B191-5F7B500C9AA0}"/>
              </a:ext>
            </a:extLst>
          </p:cNvPr>
          <p:cNvSpPr>
            <a:spLocks noGrp="1"/>
          </p:cNvSpPr>
          <p:nvPr>
            <p:ph type="title"/>
          </p:nvPr>
        </p:nvSpPr>
        <p:spPr>
          <a:xfrm>
            <a:off x="838200" y="365126"/>
            <a:ext cx="10515600" cy="1040888"/>
          </a:xfrm>
        </p:spPr>
        <p:txBody>
          <a:bodyPr/>
          <a:lstStyle/>
          <a:p>
            <a:r>
              <a:rPr lang="en-IN" b="1" dirty="0">
                <a:solidFill>
                  <a:srgbClr val="FF0000"/>
                </a:solidFill>
                <a:latin typeface="Times New Roman" panose="02020603050405020304" pitchFamily="18" charset="0"/>
                <a:cs typeface="Times New Roman" panose="02020603050405020304" pitchFamily="18" charset="0"/>
              </a:rPr>
              <a:t>Challenges and  Key Learnings</a:t>
            </a:r>
          </a:p>
        </p:txBody>
      </p:sp>
      <p:sp>
        <p:nvSpPr>
          <p:cNvPr id="4" name="Rectangle 1">
            <a:extLst>
              <a:ext uri="{FF2B5EF4-FFF2-40B4-BE49-F238E27FC236}">
                <a16:creationId xmlns:a16="http://schemas.microsoft.com/office/drawing/2014/main" id="{4DA5CD3A-4B45-B25C-8DA6-159E7D374E76}"/>
              </a:ext>
            </a:extLst>
          </p:cNvPr>
          <p:cNvSpPr>
            <a:spLocks noGrp="1" noChangeArrowheads="1"/>
          </p:cNvSpPr>
          <p:nvPr>
            <p:ph idx="1"/>
          </p:nvPr>
        </p:nvSpPr>
        <p:spPr bwMode="auto">
          <a:xfrm>
            <a:off x="946355" y="1571481"/>
            <a:ext cx="745588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Handling </a:t>
            </a:r>
            <a:r>
              <a:rPr kumimoji="0" lang="en-US" altLang="en-US" sz="1800" b="1" i="0" u="none" strike="noStrike" cap="none" normalizeH="0" baseline="0" dirty="0">
                <a:ln>
                  <a:noFill/>
                </a:ln>
                <a:solidFill>
                  <a:schemeClr val="tx1"/>
                </a:solidFill>
                <a:effectLst/>
                <a:latin typeface="Arial" panose="020B0604020202020204" pitchFamily="34" charset="0"/>
              </a:rPr>
              <a:t>inconsistent data formats</a:t>
            </a:r>
            <a:r>
              <a:rPr kumimoji="0" lang="en-US" altLang="en-US" sz="1800" b="0" i="0" u="none" strike="noStrike" cap="none" normalizeH="0" baseline="0" dirty="0">
                <a:ln>
                  <a:noFill/>
                </a:ln>
                <a:solidFill>
                  <a:schemeClr val="tx1"/>
                </a:solidFill>
                <a:effectLst/>
                <a:latin typeface="Arial" panose="020B0604020202020204" pitchFamily="34" charset="0"/>
              </a:rPr>
              <a:t> across brands and features.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Managing </a:t>
            </a:r>
            <a:r>
              <a:rPr kumimoji="0" lang="en-US" altLang="en-US" sz="1800" b="1" i="0" u="none" strike="noStrike" cap="none" normalizeH="0" baseline="0" dirty="0">
                <a:ln>
                  <a:noFill/>
                </a:ln>
                <a:solidFill>
                  <a:schemeClr val="tx1"/>
                </a:solidFill>
                <a:effectLst/>
                <a:latin typeface="Arial" panose="020B0604020202020204" pitchFamily="34" charset="0"/>
              </a:rPr>
              <a:t>outliers</a:t>
            </a:r>
            <a:r>
              <a:rPr kumimoji="0" lang="en-US" altLang="en-US" sz="1800" b="0" i="0" u="none" strike="noStrike" cap="none" normalizeH="0" baseline="0" dirty="0">
                <a:ln>
                  <a:noFill/>
                </a:ln>
                <a:solidFill>
                  <a:schemeClr val="tx1"/>
                </a:solidFill>
                <a:effectLst/>
                <a:latin typeface="Arial" panose="020B0604020202020204" pitchFamily="34" charset="0"/>
              </a:rPr>
              <a:t> in prices and ratings that could skew analysis.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Choosing the </a:t>
            </a:r>
            <a:r>
              <a:rPr kumimoji="0" lang="en-US" altLang="en-US" sz="1800" b="1" i="0" u="none" strike="noStrike" cap="none" normalizeH="0" baseline="0" dirty="0">
                <a:ln>
                  <a:noFill/>
                </a:ln>
                <a:solidFill>
                  <a:schemeClr val="tx1"/>
                </a:solidFill>
                <a:effectLst/>
                <a:latin typeface="Arial" panose="020B0604020202020204" pitchFamily="34" charset="0"/>
              </a:rPr>
              <a:t>right visualization</a:t>
            </a:r>
            <a:r>
              <a:rPr kumimoji="0" lang="en-US" altLang="en-US" sz="1800" b="0" i="0" u="none" strike="noStrike" cap="none" normalizeH="0" baseline="0" dirty="0">
                <a:ln>
                  <a:noFill/>
                </a:ln>
                <a:solidFill>
                  <a:schemeClr val="tx1"/>
                </a:solidFill>
                <a:effectLst/>
                <a:latin typeface="Arial" panose="020B0604020202020204" pitchFamily="34" charset="0"/>
              </a:rPr>
              <a:t> to clearly represent insights.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Interpreting discount-heavy pricing without </a:t>
            </a:r>
            <a:r>
              <a:rPr kumimoji="0" lang="en-US" altLang="en-US" sz="1800" b="1" i="0" u="none" strike="noStrike" cap="none" normalizeH="0" baseline="0" dirty="0">
                <a:ln>
                  <a:noFill/>
                </a:ln>
                <a:solidFill>
                  <a:schemeClr val="tx1"/>
                </a:solidFill>
                <a:effectLst/>
                <a:latin typeface="Arial" panose="020B0604020202020204" pitchFamily="34" charset="0"/>
              </a:rPr>
              <a:t>misleading correlations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Balancing technical accuracy with </a:t>
            </a:r>
            <a:r>
              <a:rPr kumimoji="0" lang="en-US" altLang="en-US" sz="1800" b="1" i="0" u="none" strike="noStrike" cap="none" normalizeH="0" baseline="0" dirty="0">
                <a:ln>
                  <a:noFill/>
                </a:ln>
                <a:solidFill>
                  <a:schemeClr val="tx1"/>
                </a:solidFill>
                <a:effectLst/>
                <a:latin typeface="Arial" panose="020B0604020202020204" pitchFamily="34" charset="0"/>
              </a:rPr>
              <a:t>business-friendly explanations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TextBox 4">
            <a:extLst>
              <a:ext uri="{FF2B5EF4-FFF2-40B4-BE49-F238E27FC236}">
                <a16:creationId xmlns:a16="http://schemas.microsoft.com/office/drawing/2014/main" id="{BA65C7D9-E924-1481-E5BB-D118AB477342}"/>
              </a:ext>
            </a:extLst>
          </p:cNvPr>
          <p:cNvSpPr txBox="1"/>
          <p:nvPr/>
        </p:nvSpPr>
        <p:spPr>
          <a:xfrm>
            <a:off x="946355" y="3214276"/>
            <a:ext cx="10407445" cy="1754326"/>
          </a:xfrm>
          <a:prstGeom prst="rect">
            <a:avLst/>
          </a:prstGeom>
          <a:noFill/>
        </p:spPr>
        <p:txBody>
          <a:bodyPr wrap="square" rtlCol="0">
            <a:spAutoFit/>
          </a:bodyPr>
          <a:lstStyle/>
          <a:p>
            <a:pPr marL="285750" indent="-285750">
              <a:buFont typeface="Arial" panose="020B0604020202020204" pitchFamily="34" charset="0"/>
              <a:buChar char="•"/>
            </a:pPr>
            <a:r>
              <a:rPr lang="en-US" dirty="0"/>
              <a:t>Learned how to apply </a:t>
            </a:r>
            <a:r>
              <a:rPr lang="en-US" b="1" dirty="0"/>
              <a:t>univariate and bivariate analysis</a:t>
            </a:r>
            <a:r>
              <a:rPr lang="en-US" dirty="0"/>
              <a:t> for real business problems.</a:t>
            </a:r>
          </a:p>
          <a:p>
            <a:pPr marL="285750" indent="-285750">
              <a:buFont typeface="Arial" panose="020B0604020202020204" pitchFamily="34" charset="0"/>
              <a:buChar char="•"/>
            </a:pPr>
            <a:r>
              <a:rPr lang="en-US" dirty="0"/>
              <a:t>Gained experience in selecting </a:t>
            </a:r>
            <a:r>
              <a:rPr lang="en-US" b="1" dirty="0"/>
              <a:t>appropriate charts</a:t>
            </a:r>
            <a:r>
              <a:rPr lang="en-US" dirty="0"/>
              <a:t> for different data types.</a:t>
            </a:r>
          </a:p>
          <a:p>
            <a:pPr marL="285750" indent="-285750">
              <a:buFont typeface="Arial" panose="020B0604020202020204" pitchFamily="34" charset="0"/>
              <a:buChar char="•"/>
            </a:pPr>
            <a:r>
              <a:rPr lang="en-US" dirty="0"/>
              <a:t>Improved ability to convert </a:t>
            </a:r>
            <a:r>
              <a:rPr lang="en-US" b="1" dirty="0"/>
              <a:t>raw data into actionable insights</a:t>
            </a:r>
            <a:r>
              <a:rPr lang="en-US" dirty="0"/>
              <a:t>.</a:t>
            </a:r>
          </a:p>
          <a:p>
            <a:pPr marL="285750" indent="-285750">
              <a:buFont typeface="Arial" panose="020B0604020202020204" pitchFamily="34" charset="0"/>
              <a:buChar char="•"/>
            </a:pPr>
            <a:r>
              <a:rPr lang="en-US" dirty="0"/>
              <a:t>Understood how </a:t>
            </a:r>
            <a:r>
              <a:rPr lang="en-US" b="1" dirty="0"/>
              <a:t>pricing, discounts, and features</a:t>
            </a:r>
            <a:r>
              <a:rPr lang="en-US" dirty="0"/>
              <a:t> influence customer behavior.</a:t>
            </a:r>
          </a:p>
          <a:p>
            <a:pPr marL="285750" indent="-285750">
              <a:buFont typeface="Arial" panose="020B0604020202020204" pitchFamily="34" charset="0"/>
              <a:buChar char="•"/>
            </a:pPr>
            <a:r>
              <a:rPr lang="en-US" dirty="0"/>
              <a:t>Strengthened </a:t>
            </a:r>
            <a:r>
              <a:rPr lang="en-US" b="1" dirty="0"/>
              <a:t>data storytelling skills</a:t>
            </a:r>
            <a:r>
              <a:rPr lang="en-US" dirty="0"/>
              <a:t> for presentations and decision-making.</a:t>
            </a:r>
          </a:p>
          <a:p>
            <a:endParaRPr lang="en-IN" dirty="0"/>
          </a:p>
        </p:txBody>
      </p:sp>
    </p:spTree>
    <p:extLst>
      <p:ext uri="{BB962C8B-B14F-4D97-AF65-F5344CB8AC3E}">
        <p14:creationId xmlns:p14="http://schemas.microsoft.com/office/powerpoint/2010/main" val="315422650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4000"/>
            <a:lum/>
          </a:blip>
          <a:srcRect/>
          <a:stretch>
            <a:fillRect/>
          </a:stretch>
        </a:blip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231521855"/>
      </p:ext>
    </p:extLst>
  </p:cSld>
  <p:clrMapOvr>
    <a:masterClrMapping/>
  </p:clrMapOvr>
  <mc:AlternateContent xmlns:mc="http://schemas.openxmlformats.org/markup-compatibility/2006" xmlns:p14="http://schemas.microsoft.com/office/powerpoint/2010/main">
    <mc:Choice Requires="p14">
      <p:transition spd="slow" p14:dur="2000">
        <p14:fla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5451</TotalTime>
  <Words>1230</Words>
  <Application>Microsoft Office PowerPoint</Application>
  <PresentationFormat>Widescreen</PresentationFormat>
  <Paragraphs>154</Paragraphs>
  <Slides>26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Times New Roman</vt:lpstr>
      <vt:lpstr>Office Theme</vt:lpstr>
      <vt:lpstr>PowerPoint Presentation</vt:lpstr>
      <vt:lpstr>Agenda </vt:lpstr>
      <vt:lpstr>Introduction</vt:lpstr>
      <vt:lpstr>Business Problem: </vt:lpstr>
      <vt:lpstr>Key Questions This Project Answers</vt:lpstr>
      <vt:lpstr>Objective of the Project</vt:lpstr>
      <vt:lpstr>Data Overview :</vt:lpstr>
      <vt:lpstr>Web Scraping: Details</vt:lpstr>
      <vt:lpstr>Summary Of The Data</vt:lpstr>
      <vt:lpstr>Data Cleaning</vt:lpstr>
      <vt:lpstr>Data Manipulation</vt:lpstr>
      <vt:lpstr>Univariate Analysis</vt:lpstr>
      <vt:lpstr>Which Bluetooth versions are most commonly adopted in wireless earbuds?</vt:lpstr>
      <vt:lpstr>What price range do most wireless earbuds fall into?</vt:lpstr>
      <vt:lpstr>How consistent is customer satisfaction across products, and are there rating outliers?</vt:lpstr>
      <vt:lpstr>Bivariate Analysis</vt:lpstr>
      <vt:lpstr>How do discounts influence the final selling price?</vt:lpstr>
      <vt:lpstr>Does Bluetooth version affect the selling price?</vt:lpstr>
      <vt:lpstr>Do brands rely on different discounting strategies?</vt:lpstr>
      <vt:lpstr>DASHBOARD OVERVIEW</vt:lpstr>
      <vt:lpstr>Hypothesis Test 1: Discount vs Selling Price</vt:lpstr>
      <vt:lpstr>Hypothesis Test 2 : Premium vs Budget Brand Ratings</vt:lpstr>
      <vt:lpstr>Hypothesis Test 3 : Bluetooth Version vs Selling Price</vt:lpstr>
      <vt:lpstr>Conclusions(key findings)</vt:lpstr>
      <vt:lpstr>Challenges and  Key Learnings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Udvisha Kosti</dc:creator>
  <cp:lastModifiedBy>udvisha kosti</cp:lastModifiedBy>
  <cp:revision>33</cp:revision>
  <dcterms:created xsi:type="dcterms:W3CDTF">2025-10-08T17:29:17Z</dcterms:created>
  <dcterms:modified xsi:type="dcterms:W3CDTF">2026-02-02T07:14:15Z</dcterms:modified>
</cp:coreProperties>
</file>